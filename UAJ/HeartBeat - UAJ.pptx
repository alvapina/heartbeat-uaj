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SLIDES_API402787932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SLIDES_API402787932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SLIDES_API402787932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SLIDES_API402787932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SLIDES_API402787932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SLIDES_API402787932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SLIDES_API402787932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SLIDES_API402787932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SLIDES_API402787932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SLIDES_API402787932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SLIDES_API402787932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SLIDES_API402787932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SLIDES_API402787932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SLIDES_API402787932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SLIDES_API402787932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SLIDES_API402787932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3" name="Google Shape;13;p2" title="MenuHeartBeat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2" y="0"/>
            <a:ext cx="9001124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5.png"/><Relationship Id="rId5" Type="http://schemas.openxmlformats.org/officeDocument/2006/relationships/image" Target="../media/image12.png"/><Relationship Id="rId6" Type="http://schemas.openxmlformats.org/officeDocument/2006/relationships/image" Target="../media/image7.png"/><Relationship Id="rId7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B0D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B3122D"/>
          </a:solidFill>
          <a:ln cap="flat" cmpd="sng" w="12700">
            <a:solidFill>
              <a:srgbClr val="B312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660400" y="1066800"/>
            <a:ext cx="7823100" cy="25500"/>
          </a:xfrm>
          <a:prstGeom prst="rect">
            <a:avLst/>
          </a:prstGeom>
          <a:solidFill>
            <a:srgbClr val="B3122D"/>
          </a:solidFill>
          <a:ln cap="flat" cmpd="sng" w="12700">
            <a:solidFill>
              <a:srgbClr val="B312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660400" y="1460500"/>
            <a:ext cx="7746900" cy="10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solidFill>
                  <a:srgbClr val="F2F2F2"/>
                </a:solidFill>
              </a:rPr>
              <a:t>HeartBeat: Análisis de Telemetría y Experiencia (GX)</a:t>
            </a:r>
            <a:endParaRPr b="1" sz="2800">
              <a:solidFill>
                <a:srgbClr val="F2F2F2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660400" y="2641600"/>
            <a:ext cx="77469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B8B8B8"/>
                </a:solidFill>
              </a:rPr>
              <a:t>Triangulación de métricas de juego y GUR</a:t>
            </a:r>
            <a:endParaRPr sz="1600">
              <a:solidFill>
                <a:srgbClr val="B8B8B8"/>
              </a:solidFill>
            </a:endParaRPr>
          </a:p>
        </p:txBody>
      </p:sp>
      <p:sp>
        <p:nvSpPr>
          <p:cNvPr id="59" name="Google Shape;59;p13"/>
          <p:cNvSpPr/>
          <p:nvPr/>
        </p:nvSpPr>
        <p:spPr>
          <a:xfrm>
            <a:off x="660400" y="3365500"/>
            <a:ext cx="1397100" cy="381000"/>
          </a:xfrm>
          <a:prstGeom prst="rect">
            <a:avLst/>
          </a:prstGeom>
          <a:solidFill>
            <a:srgbClr val="17171A"/>
          </a:solidFill>
          <a:ln cap="flat" cmpd="sng" w="12700">
            <a:solidFill>
              <a:srgbClr val="B312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3"/>
          <p:cNvSpPr txBox="1"/>
          <p:nvPr/>
        </p:nvSpPr>
        <p:spPr>
          <a:xfrm>
            <a:off x="863600" y="3380035"/>
            <a:ext cx="11430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2F2F2"/>
                </a:solidFill>
              </a:rPr>
              <a:t>Grupo 08</a:t>
            </a:r>
            <a:endParaRPr b="1" sz="1200">
              <a:solidFill>
                <a:srgbClr val="F2F2F2"/>
              </a:solidFill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660400" y="43815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B8B8B8"/>
                </a:solidFill>
              </a:rPr>
              <a:t>Jose E. Robles Roca  y Álvaro Piña Sánchez-Sierra</a:t>
            </a:r>
            <a:endParaRPr sz="1000">
              <a:solidFill>
                <a:srgbClr val="B8B8B8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B0D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4" title="d2d9543e6df153f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9450" y="-729500"/>
            <a:ext cx="51435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 txBox="1"/>
          <p:nvPr/>
        </p:nvSpPr>
        <p:spPr>
          <a:xfrm>
            <a:off x="431800" y="279400"/>
            <a:ext cx="73659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rgbClr val="F2F2F2"/>
                </a:solidFill>
              </a:rPr>
              <a:t>Metodología de Evaluación</a:t>
            </a:r>
            <a:endParaRPr b="1" sz="2200">
              <a:solidFill>
                <a:srgbClr val="F2F2F2"/>
              </a:solidFill>
            </a:endParaRPr>
          </a:p>
        </p:txBody>
      </p:sp>
      <p:sp>
        <p:nvSpPr>
          <p:cNvPr id="68" name="Google Shape;68;p14"/>
          <p:cNvSpPr/>
          <p:nvPr/>
        </p:nvSpPr>
        <p:spPr>
          <a:xfrm>
            <a:off x="431800" y="774700"/>
            <a:ext cx="7112100" cy="38100"/>
          </a:xfrm>
          <a:prstGeom prst="rect">
            <a:avLst/>
          </a:prstGeom>
          <a:solidFill>
            <a:srgbClr val="B3122D"/>
          </a:solidFill>
          <a:ln cap="flat" cmpd="sng" w="12700">
            <a:solidFill>
              <a:srgbClr val="B312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4"/>
          <p:cNvSpPr txBox="1"/>
          <p:nvPr/>
        </p:nvSpPr>
        <p:spPr>
          <a:xfrm>
            <a:off x="431800" y="4724400"/>
            <a:ext cx="22860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B8B8B8"/>
                </a:solidFill>
              </a:rPr>
              <a:t>HeartBeat · GX</a:t>
            </a:r>
            <a:endParaRPr sz="800">
              <a:solidFill>
                <a:srgbClr val="B8B8B8"/>
              </a:solidFill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8318500" y="4673600"/>
            <a:ext cx="406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B3122D"/>
                </a:solidFill>
              </a:rPr>
              <a:t>02</a:t>
            </a:r>
            <a:endParaRPr b="1" sz="1100">
              <a:solidFill>
                <a:srgbClr val="B3122D"/>
              </a:solidFill>
            </a:endParaRPr>
          </a:p>
        </p:txBody>
      </p:sp>
      <p:sp>
        <p:nvSpPr>
          <p:cNvPr id="71" name="Google Shape;71;p14"/>
          <p:cNvSpPr/>
          <p:nvPr/>
        </p:nvSpPr>
        <p:spPr>
          <a:xfrm>
            <a:off x="482600" y="1168400"/>
            <a:ext cx="1397100" cy="279300"/>
          </a:xfrm>
          <a:prstGeom prst="rect">
            <a:avLst/>
          </a:prstGeom>
          <a:solidFill>
            <a:srgbClr val="7A0B1D"/>
          </a:solidFill>
          <a:ln cap="flat" cmpd="sng" w="12700">
            <a:solidFill>
              <a:srgbClr val="7A0B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4"/>
          <p:cNvSpPr txBox="1"/>
          <p:nvPr/>
        </p:nvSpPr>
        <p:spPr>
          <a:xfrm>
            <a:off x="609600" y="1155700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F2F2F2"/>
                </a:solidFill>
              </a:rPr>
              <a:t>MARCO</a:t>
            </a:r>
            <a:endParaRPr b="1" sz="800">
              <a:solidFill>
                <a:srgbClr val="F2F2F2"/>
              </a:solidFill>
            </a:endParaRPr>
          </a:p>
        </p:txBody>
      </p:sp>
      <p:sp>
        <p:nvSpPr>
          <p:cNvPr id="73" name="Google Shape;73;p14"/>
          <p:cNvSpPr/>
          <p:nvPr/>
        </p:nvSpPr>
        <p:spPr>
          <a:xfrm>
            <a:off x="482600" y="1562100"/>
            <a:ext cx="8178900" cy="736500"/>
          </a:xfrm>
          <a:prstGeom prst="rect">
            <a:avLst/>
          </a:prstGeom>
          <a:solidFill>
            <a:srgbClr val="17171A"/>
          </a:solidFill>
          <a:ln cap="flat" cmpd="sng" w="12700">
            <a:solidFill>
              <a:srgbClr val="3A3A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4"/>
          <p:cNvSpPr/>
          <p:nvPr/>
        </p:nvSpPr>
        <p:spPr>
          <a:xfrm>
            <a:off x="482600" y="1562100"/>
            <a:ext cx="63600" cy="736500"/>
          </a:xfrm>
          <a:prstGeom prst="rect">
            <a:avLst/>
          </a:prstGeom>
          <a:solidFill>
            <a:srgbClr val="B3122D"/>
          </a:solidFill>
          <a:ln cap="flat" cmpd="sng" w="12700">
            <a:solidFill>
              <a:srgbClr val="B312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4"/>
          <p:cNvSpPr txBox="1"/>
          <p:nvPr/>
        </p:nvSpPr>
        <p:spPr>
          <a:xfrm>
            <a:off x="685800" y="1562100"/>
            <a:ext cx="78231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B3122D"/>
                </a:solidFill>
              </a:rPr>
              <a:t>Objetivo</a:t>
            </a:r>
            <a:endParaRPr b="1" sz="1000">
              <a:solidFill>
                <a:srgbClr val="B3122D"/>
              </a:solidFill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685800" y="1828800"/>
            <a:ext cx="78231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F2F2F2"/>
                </a:solidFill>
              </a:rPr>
              <a:t>Validar el diseño con una serie de hipótesis usando el marco MDA.</a:t>
            </a:r>
            <a:endParaRPr sz="1200">
              <a:solidFill>
                <a:srgbClr val="F2F2F2"/>
              </a:solidFill>
            </a:endParaRPr>
          </a:p>
        </p:txBody>
      </p:sp>
      <p:sp>
        <p:nvSpPr>
          <p:cNvPr id="77" name="Google Shape;77;p14"/>
          <p:cNvSpPr/>
          <p:nvPr/>
        </p:nvSpPr>
        <p:spPr>
          <a:xfrm>
            <a:off x="482600" y="2603500"/>
            <a:ext cx="1397100" cy="279300"/>
          </a:xfrm>
          <a:prstGeom prst="rect">
            <a:avLst/>
          </a:prstGeom>
          <a:solidFill>
            <a:srgbClr val="7A0B1D"/>
          </a:solidFill>
          <a:ln cap="flat" cmpd="sng" w="12700">
            <a:solidFill>
              <a:srgbClr val="7A0B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4"/>
          <p:cNvSpPr txBox="1"/>
          <p:nvPr/>
        </p:nvSpPr>
        <p:spPr>
          <a:xfrm>
            <a:off x="609600" y="2590800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F2F2F2"/>
                </a:solidFill>
              </a:rPr>
              <a:t>DATOS</a:t>
            </a:r>
            <a:endParaRPr b="1" sz="800">
              <a:solidFill>
                <a:srgbClr val="F2F2F2"/>
              </a:solidFill>
            </a:endParaRPr>
          </a:p>
        </p:txBody>
      </p:sp>
      <p:sp>
        <p:nvSpPr>
          <p:cNvPr id="79" name="Google Shape;79;p14"/>
          <p:cNvSpPr/>
          <p:nvPr/>
        </p:nvSpPr>
        <p:spPr>
          <a:xfrm>
            <a:off x="482600" y="2997200"/>
            <a:ext cx="3835500" cy="990600"/>
          </a:xfrm>
          <a:prstGeom prst="rect">
            <a:avLst/>
          </a:prstGeom>
          <a:solidFill>
            <a:srgbClr val="17171A"/>
          </a:solidFill>
          <a:ln cap="flat" cmpd="sng" w="12700">
            <a:solidFill>
              <a:srgbClr val="3A3A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4"/>
          <p:cNvSpPr/>
          <p:nvPr/>
        </p:nvSpPr>
        <p:spPr>
          <a:xfrm>
            <a:off x="482600" y="2997200"/>
            <a:ext cx="63600" cy="990600"/>
          </a:xfrm>
          <a:prstGeom prst="rect">
            <a:avLst/>
          </a:prstGeom>
          <a:solidFill>
            <a:srgbClr val="B3122D"/>
          </a:solidFill>
          <a:ln cap="flat" cmpd="sng" w="12700">
            <a:solidFill>
              <a:srgbClr val="B312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4"/>
          <p:cNvSpPr txBox="1"/>
          <p:nvPr/>
        </p:nvSpPr>
        <p:spPr>
          <a:xfrm>
            <a:off x="685800" y="2997300"/>
            <a:ext cx="34797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B3122D"/>
                </a:solidFill>
              </a:rPr>
              <a:t>Cuantitativo</a:t>
            </a:r>
            <a:endParaRPr b="1" sz="1000">
              <a:solidFill>
                <a:srgbClr val="B3122D"/>
              </a:solidFill>
            </a:endParaRPr>
          </a:p>
        </p:txBody>
      </p:sp>
      <p:sp>
        <p:nvSpPr>
          <p:cNvPr id="82" name="Google Shape;82;p14"/>
          <p:cNvSpPr txBox="1"/>
          <p:nvPr/>
        </p:nvSpPr>
        <p:spPr>
          <a:xfrm>
            <a:off x="685800" y="3263900"/>
            <a:ext cx="3479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F2F2F2"/>
                </a:solidFill>
              </a:rPr>
              <a:t>Telemetría extraída de Unity y analizada con scripts de Python (`analyze_telemetry.py`).</a:t>
            </a:r>
            <a:endParaRPr sz="1200">
              <a:solidFill>
                <a:srgbClr val="F2F2F2"/>
              </a:solidFill>
            </a:endParaRPr>
          </a:p>
        </p:txBody>
      </p:sp>
      <p:sp>
        <p:nvSpPr>
          <p:cNvPr id="83" name="Google Shape;83;p14"/>
          <p:cNvSpPr/>
          <p:nvPr/>
        </p:nvSpPr>
        <p:spPr>
          <a:xfrm>
            <a:off x="4826000" y="2997200"/>
            <a:ext cx="3835500" cy="990600"/>
          </a:xfrm>
          <a:prstGeom prst="rect">
            <a:avLst/>
          </a:prstGeom>
          <a:solidFill>
            <a:srgbClr val="17171A"/>
          </a:solidFill>
          <a:ln cap="flat" cmpd="sng" w="12700">
            <a:solidFill>
              <a:srgbClr val="3A3A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4"/>
          <p:cNvSpPr/>
          <p:nvPr/>
        </p:nvSpPr>
        <p:spPr>
          <a:xfrm>
            <a:off x="4826000" y="2997200"/>
            <a:ext cx="63600" cy="990600"/>
          </a:xfrm>
          <a:prstGeom prst="rect">
            <a:avLst/>
          </a:prstGeom>
          <a:solidFill>
            <a:srgbClr val="B3122D"/>
          </a:solidFill>
          <a:ln cap="flat" cmpd="sng" w="12700">
            <a:solidFill>
              <a:srgbClr val="B312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4"/>
          <p:cNvSpPr txBox="1"/>
          <p:nvPr/>
        </p:nvSpPr>
        <p:spPr>
          <a:xfrm>
            <a:off x="5029200" y="2997300"/>
            <a:ext cx="34797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B3122D"/>
                </a:solidFill>
              </a:rPr>
              <a:t>Cualitativo</a:t>
            </a:r>
            <a:endParaRPr b="1" sz="1000">
              <a:solidFill>
                <a:srgbClr val="B3122D"/>
              </a:solidFill>
            </a:endParaRPr>
          </a:p>
        </p:txBody>
      </p:sp>
      <p:sp>
        <p:nvSpPr>
          <p:cNvPr id="86" name="Google Shape;86;p14"/>
          <p:cNvSpPr txBox="1"/>
          <p:nvPr/>
        </p:nvSpPr>
        <p:spPr>
          <a:xfrm>
            <a:off x="5029200" y="3263900"/>
            <a:ext cx="3479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F2F2F2"/>
                </a:solidFill>
              </a:rPr>
              <a:t>Entrevistas post-partida y protocolo Think Aloud.</a:t>
            </a:r>
            <a:endParaRPr sz="1200">
              <a:solidFill>
                <a:srgbClr val="F2F2F2"/>
              </a:solidFill>
            </a:endParaRPr>
          </a:p>
        </p:txBody>
      </p:sp>
      <p:sp>
        <p:nvSpPr>
          <p:cNvPr id="87" name="Google Shape;87;p14"/>
          <p:cNvSpPr/>
          <p:nvPr/>
        </p:nvSpPr>
        <p:spPr>
          <a:xfrm>
            <a:off x="4318000" y="3175000"/>
            <a:ext cx="12600" cy="609600"/>
          </a:xfrm>
          <a:prstGeom prst="rect">
            <a:avLst/>
          </a:prstGeom>
          <a:solidFill>
            <a:srgbClr val="B3122D"/>
          </a:solidFill>
          <a:ln cap="flat" cmpd="sng" w="12700">
            <a:solidFill>
              <a:srgbClr val="B312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B0D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5"/>
          <p:cNvSpPr txBox="1"/>
          <p:nvPr/>
        </p:nvSpPr>
        <p:spPr>
          <a:xfrm>
            <a:off x="431800" y="279400"/>
            <a:ext cx="73659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rgbClr val="F2F2F2"/>
                </a:solidFill>
              </a:rPr>
              <a:t>Arquitectura Técnica</a:t>
            </a:r>
            <a:endParaRPr b="1" sz="2200">
              <a:solidFill>
                <a:srgbClr val="F2F2F2"/>
              </a:solidFill>
            </a:endParaRPr>
          </a:p>
        </p:txBody>
      </p:sp>
      <p:sp>
        <p:nvSpPr>
          <p:cNvPr id="93" name="Google Shape;93;p15"/>
          <p:cNvSpPr/>
          <p:nvPr/>
        </p:nvSpPr>
        <p:spPr>
          <a:xfrm>
            <a:off x="431800" y="774700"/>
            <a:ext cx="7112100" cy="38100"/>
          </a:xfrm>
          <a:prstGeom prst="rect">
            <a:avLst/>
          </a:prstGeom>
          <a:solidFill>
            <a:srgbClr val="B3122D"/>
          </a:solidFill>
          <a:ln cap="flat" cmpd="sng" w="12700">
            <a:solidFill>
              <a:srgbClr val="B312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5"/>
          <p:cNvSpPr txBox="1"/>
          <p:nvPr/>
        </p:nvSpPr>
        <p:spPr>
          <a:xfrm>
            <a:off x="431800" y="4724400"/>
            <a:ext cx="22860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B8B8B8"/>
                </a:solidFill>
              </a:rPr>
              <a:t>HeartBeat · GX</a:t>
            </a:r>
            <a:endParaRPr sz="800">
              <a:solidFill>
                <a:srgbClr val="B8B8B8"/>
              </a:solidFill>
            </a:endParaRPr>
          </a:p>
        </p:txBody>
      </p:sp>
      <p:sp>
        <p:nvSpPr>
          <p:cNvPr id="95" name="Google Shape;95;p15"/>
          <p:cNvSpPr txBox="1"/>
          <p:nvPr/>
        </p:nvSpPr>
        <p:spPr>
          <a:xfrm>
            <a:off x="8318500" y="4673600"/>
            <a:ext cx="406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B3122D"/>
                </a:solidFill>
              </a:rPr>
              <a:t>03</a:t>
            </a:r>
            <a:endParaRPr b="1" sz="1100">
              <a:solidFill>
                <a:srgbClr val="B3122D"/>
              </a:solidFill>
            </a:endParaRPr>
          </a:p>
        </p:txBody>
      </p:sp>
      <p:sp>
        <p:nvSpPr>
          <p:cNvPr id="96" name="Google Shape;96;p15"/>
          <p:cNvSpPr txBox="1"/>
          <p:nvPr/>
        </p:nvSpPr>
        <p:spPr>
          <a:xfrm>
            <a:off x="5293573" y="4365782"/>
            <a:ext cx="3555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B8B8B8"/>
                </a:solidFill>
              </a:rPr>
              <a:t>[IMAGEN: Captura de los scripts de telemetría de Unity]</a:t>
            </a:r>
            <a:endParaRPr sz="900">
              <a:solidFill>
                <a:srgbClr val="B8B8B8"/>
              </a:solidFill>
            </a:endParaRPr>
          </a:p>
        </p:txBody>
      </p:sp>
      <p:sp>
        <p:nvSpPr>
          <p:cNvPr id="97" name="Google Shape;97;p15"/>
          <p:cNvSpPr/>
          <p:nvPr/>
        </p:nvSpPr>
        <p:spPr>
          <a:xfrm>
            <a:off x="482600" y="1219200"/>
            <a:ext cx="3746400" cy="812700"/>
          </a:xfrm>
          <a:prstGeom prst="rect">
            <a:avLst/>
          </a:prstGeom>
          <a:solidFill>
            <a:srgbClr val="17171A"/>
          </a:solidFill>
          <a:ln cap="flat" cmpd="sng" w="12700">
            <a:solidFill>
              <a:srgbClr val="3A3A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5"/>
          <p:cNvSpPr/>
          <p:nvPr/>
        </p:nvSpPr>
        <p:spPr>
          <a:xfrm>
            <a:off x="482600" y="1219200"/>
            <a:ext cx="63600" cy="812700"/>
          </a:xfrm>
          <a:prstGeom prst="rect">
            <a:avLst/>
          </a:prstGeom>
          <a:solidFill>
            <a:srgbClr val="B3122D"/>
          </a:solidFill>
          <a:ln cap="flat" cmpd="sng" w="12700">
            <a:solidFill>
              <a:srgbClr val="B312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5"/>
          <p:cNvSpPr txBox="1"/>
          <p:nvPr/>
        </p:nvSpPr>
        <p:spPr>
          <a:xfrm>
            <a:off x="685800" y="1219200"/>
            <a:ext cx="33909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B3122D"/>
                </a:solidFill>
              </a:rPr>
              <a:t>Integración Unity</a:t>
            </a:r>
            <a:endParaRPr b="1" sz="1000">
              <a:solidFill>
                <a:srgbClr val="B3122D"/>
              </a:solidFill>
            </a:endParaRPr>
          </a:p>
        </p:txBody>
      </p:sp>
      <p:sp>
        <p:nvSpPr>
          <p:cNvPr id="100" name="Google Shape;100;p15"/>
          <p:cNvSpPr txBox="1"/>
          <p:nvPr/>
        </p:nvSpPr>
        <p:spPr>
          <a:xfrm>
            <a:off x="685800" y="1485900"/>
            <a:ext cx="33909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F2F2F2"/>
                </a:solidFill>
              </a:rPr>
              <a:t>Sistema modular basado en eventos (`Traker.cs`, `EventoBase.cs`).</a:t>
            </a:r>
            <a:endParaRPr sz="1200">
              <a:solidFill>
                <a:srgbClr val="F2F2F2"/>
              </a:solidFill>
            </a:endParaRPr>
          </a:p>
        </p:txBody>
      </p:sp>
      <p:sp>
        <p:nvSpPr>
          <p:cNvPr id="101" name="Google Shape;101;p15"/>
          <p:cNvSpPr/>
          <p:nvPr/>
        </p:nvSpPr>
        <p:spPr>
          <a:xfrm>
            <a:off x="482600" y="2260600"/>
            <a:ext cx="3746400" cy="812700"/>
          </a:xfrm>
          <a:prstGeom prst="rect">
            <a:avLst/>
          </a:prstGeom>
          <a:solidFill>
            <a:srgbClr val="17171A"/>
          </a:solidFill>
          <a:ln cap="flat" cmpd="sng" w="12700">
            <a:solidFill>
              <a:srgbClr val="3A3A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5"/>
          <p:cNvSpPr/>
          <p:nvPr/>
        </p:nvSpPr>
        <p:spPr>
          <a:xfrm>
            <a:off x="482600" y="2260600"/>
            <a:ext cx="63600" cy="812700"/>
          </a:xfrm>
          <a:prstGeom prst="rect">
            <a:avLst/>
          </a:prstGeom>
          <a:solidFill>
            <a:srgbClr val="B3122D"/>
          </a:solidFill>
          <a:ln cap="flat" cmpd="sng" w="12700">
            <a:solidFill>
              <a:srgbClr val="B312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685800" y="2260700"/>
            <a:ext cx="33909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B3122D"/>
                </a:solidFill>
              </a:rPr>
              <a:t>Persistencia</a:t>
            </a:r>
            <a:endParaRPr b="1" sz="1000">
              <a:solidFill>
                <a:srgbClr val="B3122D"/>
              </a:solidFill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685800" y="2527300"/>
            <a:ext cx="33909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F2F2F2"/>
                </a:solidFill>
              </a:rPr>
              <a:t>Serialización directa a formato JSONL (local/servidor).</a:t>
            </a:r>
            <a:endParaRPr sz="1200">
              <a:solidFill>
                <a:srgbClr val="F2F2F2"/>
              </a:solidFill>
            </a:endParaRPr>
          </a:p>
        </p:txBody>
      </p:sp>
      <p:sp>
        <p:nvSpPr>
          <p:cNvPr id="105" name="Google Shape;105;p15"/>
          <p:cNvSpPr/>
          <p:nvPr/>
        </p:nvSpPr>
        <p:spPr>
          <a:xfrm>
            <a:off x="482600" y="3302000"/>
            <a:ext cx="3746400" cy="990600"/>
          </a:xfrm>
          <a:prstGeom prst="rect">
            <a:avLst/>
          </a:prstGeom>
          <a:solidFill>
            <a:srgbClr val="17171A"/>
          </a:solidFill>
          <a:ln cap="flat" cmpd="sng" w="12700">
            <a:solidFill>
              <a:srgbClr val="3A3A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5"/>
          <p:cNvSpPr/>
          <p:nvPr/>
        </p:nvSpPr>
        <p:spPr>
          <a:xfrm>
            <a:off x="482600" y="3302000"/>
            <a:ext cx="63600" cy="990600"/>
          </a:xfrm>
          <a:prstGeom prst="rect">
            <a:avLst/>
          </a:prstGeom>
          <a:solidFill>
            <a:srgbClr val="B3122D"/>
          </a:solidFill>
          <a:ln cap="flat" cmpd="sng" w="12700">
            <a:solidFill>
              <a:srgbClr val="B312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685800" y="3302100"/>
            <a:ext cx="33909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B3122D"/>
                </a:solidFill>
              </a:rPr>
              <a:t>Procesamiento</a:t>
            </a:r>
            <a:endParaRPr b="1" sz="1000">
              <a:solidFill>
                <a:srgbClr val="B3122D"/>
              </a:solidFill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685800" y="3587650"/>
            <a:ext cx="33909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F2F2F2"/>
                </a:solidFill>
              </a:rPr>
              <a:t>Pipeline en Python ejecutado por lotes (`.bat`) para generar un dashboard HTML interactivo.</a:t>
            </a:r>
            <a:endParaRPr sz="1200">
              <a:solidFill>
                <a:srgbClr val="F2F2F2"/>
              </a:solidFill>
            </a:endParaRPr>
          </a:p>
        </p:txBody>
      </p:sp>
      <p:pic>
        <p:nvPicPr>
          <p:cNvPr id="109" name="Google Shape;10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7925" y="1258150"/>
            <a:ext cx="2760002" cy="303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B0D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 txBox="1"/>
          <p:nvPr/>
        </p:nvSpPr>
        <p:spPr>
          <a:xfrm>
            <a:off x="431800" y="279400"/>
            <a:ext cx="73659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rgbClr val="F2F2F2"/>
                </a:solidFill>
              </a:rPr>
              <a:t>Hipótesis 1 - El pulso bajo presión</a:t>
            </a:r>
            <a:endParaRPr b="1" sz="2200">
              <a:solidFill>
                <a:srgbClr val="F2F2F2"/>
              </a:solidFill>
            </a:endParaRPr>
          </a:p>
        </p:txBody>
      </p:sp>
      <p:sp>
        <p:nvSpPr>
          <p:cNvPr id="115" name="Google Shape;115;p16"/>
          <p:cNvSpPr txBox="1"/>
          <p:nvPr/>
        </p:nvSpPr>
        <p:spPr>
          <a:xfrm>
            <a:off x="431800" y="4724400"/>
            <a:ext cx="22860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B8B8B8"/>
                </a:solidFill>
              </a:rPr>
              <a:t>HeartBeat · GX</a:t>
            </a:r>
            <a:endParaRPr sz="800">
              <a:solidFill>
                <a:srgbClr val="B8B8B8"/>
              </a:solidFill>
            </a:endParaRPr>
          </a:p>
        </p:txBody>
      </p:sp>
      <p:sp>
        <p:nvSpPr>
          <p:cNvPr id="116" name="Google Shape;116;p16"/>
          <p:cNvSpPr/>
          <p:nvPr/>
        </p:nvSpPr>
        <p:spPr>
          <a:xfrm>
            <a:off x="482600" y="2489200"/>
            <a:ext cx="3810000" cy="736500"/>
          </a:xfrm>
          <a:prstGeom prst="rect">
            <a:avLst/>
          </a:prstGeom>
          <a:solidFill>
            <a:srgbClr val="17171A"/>
          </a:solidFill>
          <a:ln cap="flat" cmpd="sng" w="12700">
            <a:solidFill>
              <a:srgbClr val="3A3A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6"/>
          <p:cNvSpPr/>
          <p:nvPr/>
        </p:nvSpPr>
        <p:spPr>
          <a:xfrm>
            <a:off x="482600" y="2489200"/>
            <a:ext cx="63600" cy="736500"/>
          </a:xfrm>
          <a:prstGeom prst="rect">
            <a:avLst/>
          </a:prstGeom>
          <a:solidFill>
            <a:srgbClr val="B3122D"/>
          </a:solidFill>
          <a:ln cap="flat" cmpd="sng" w="12700">
            <a:solidFill>
              <a:srgbClr val="B312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8" name="Google Shape;118;p16" title="VoidZon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7750" y="2519388"/>
            <a:ext cx="3479700" cy="347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6" title="SafeZon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13875" y="2489200"/>
            <a:ext cx="1692101" cy="315092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/>
          <p:nvPr/>
        </p:nvSpPr>
        <p:spPr>
          <a:xfrm>
            <a:off x="431800" y="774700"/>
            <a:ext cx="7112100" cy="38100"/>
          </a:xfrm>
          <a:prstGeom prst="rect">
            <a:avLst/>
          </a:prstGeom>
          <a:solidFill>
            <a:srgbClr val="B3122D"/>
          </a:solidFill>
          <a:ln cap="flat" cmpd="sng" w="12700">
            <a:solidFill>
              <a:srgbClr val="B312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8318500" y="4673600"/>
            <a:ext cx="406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B3122D"/>
                </a:solidFill>
              </a:rPr>
              <a:t>04</a:t>
            </a:r>
            <a:endParaRPr b="1" sz="1100">
              <a:solidFill>
                <a:srgbClr val="B3122D"/>
              </a:solidFill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482600" y="1219200"/>
            <a:ext cx="3810000" cy="888900"/>
          </a:xfrm>
          <a:prstGeom prst="rect">
            <a:avLst/>
          </a:prstGeom>
          <a:solidFill>
            <a:srgbClr val="17171A"/>
          </a:solidFill>
          <a:ln cap="flat" cmpd="sng" w="12700">
            <a:solidFill>
              <a:srgbClr val="3A3A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6"/>
          <p:cNvSpPr/>
          <p:nvPr/>
        </p:nvSpPr>
        <p:spPr>
          <a:xfrm>
            <a:off x="482600" y="1219200"/>
            <a:ext cx="63600" cy="888900"/>
          </a:xfrm>
          <a:prstGeom prst="rect">
            <a:avLst/>
          </a:prstGeom>
          <a:solidFill>
            <a:srgbClr val="B3122D"/>
          </a:solidFill>
          <a:ln cap="flat" cmpd="sng" w="12700">
            <a:solidFill>
              <a:srgbClr val="B312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685800" y="1219200"/>
            <a:ext cx="34545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B3122D"/>
                </a:solidFill>
              </a:rPr>
              <a:t>Planteamiento</a:t>
            </a:r>
            <a:endParaRPr b="1" sz="1000">
              <a:solidFill>
                <a:srgbClr val="B3122D"/>
              </a:solidFill>
            </a:endParaRPr>
          </a:p>
        </p:txBody>
      </p:sp>
      <p:sp>
        <p:nvSpPr>
          <p:cNvPr id="125" name="Google Shape;125;p16"/>
          <p:cNvSpPr txBox="1"/>
          <p:nvPr/>
        </p:nvSpPr>
        <p:spPr>
          <a:xfrm>
            <a:off x="685800" y="1562100"/>
            <a:ext cx="34545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F2F2F2"/>
                </a:solidFill>
              </a:rPr>
              <a:t>La zona del pulso se reduce al acercarse el enemigo, generando errores y tensión.</a:t>
            </a:r>
            <a:endParaRPr sz="1200">
              <a:solidFill>
                <a:srgbClr val="F2F2F2"/>
              </a:solidFill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4826000" y="1219200"/>
            <a:ext cx="3835500" cy="1168500"/>
          </a:xfrm>
          <a:prstGeom prst="rect">
            <a:avLst/>
          </a:prstGeom>
          <a:solidFill>
            <a:srgbClr val="202026"/>
          </a:solidFill>
          <a:ln cap="flat" cmpd="sng" w="12700">
            <a:solidFill>
              <a:srgbClr val="7A0B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5003800" y="1384300"/>
            <a:ext cx="34797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F2F2F2"/>
                </a:solidFill>
              </a:rPr>
              <a:t>1.0 pp</a:t>
            </a:r>
            <a:endParaRPr b="1" sz="2400">
              <a:solidFill>
                <a:srgbClr val="F2F2F2"/>
              </a:solidFill>
            </a:endParaRPr>
          </a:p>
        </p:txBody>
      </p:sp>
      <p:sp>
        <p:nvSpPr>
          <p:cNvPr id="128" name="Google Shape;128;p16"/>
          <p:cNvSpPr txBox="1"/>
          <p:nvPr/>
        </p:nvSpPr>
        <p:spPr>
          <a:xfrm>
            <a:off x="5003800" y="1854200"/>
            <a:ext cx="34797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B8B8B8"/>
                </a:solidFill>
              </a:rPr>
              <a:t>Diferencia de fallos entre zona grande y pequeña. Mecánica no validada por datos.</a:t>
            </a:r>
            <a:endParaRPr sz="1000">
              <a:solidFill>
                <a:srgbClr val="B8B8B8"/>
              </a:solidFill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685800" y="2489300"/>
            <a:ext cx="34545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B3122D"/>
                </a:solidFill>
              </a:rPr>
              <a:t>GUR</a:t>
            </a:r>
            <a:endParaRPr b="1" sz="1000">
              <a:solidFill>
                <a:srgbClr val="B3122D"/>
              </a:solidFill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685800" y="2755900"/>
            <a:ext cx="34545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F2F2F2"/>
                </a:solidFill>
              </a:rPr>
              <a:t>"Iba alternando la vista o lo automatizaba".</a:t>
            </a:r>
            <a:endParaRPr sz="1200">
              <a:solidFill>
                <a:srgbClr val="F2F2F2"/>
              </a:solidFill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4826000" y="2768600"/>
            <a:ext cx="3835500" cy="1219200"/>
          </a:xfrm>
          <a:prstGeom prst="rect">
            <a:avLst/>
          </a:prstGeom>
          <a:solidFill>
            <a:srgbClr val="17171A"/>
          </a:solidFill>
          <a:ln cap="flat" cmpd="sng" w="12700">
            <a:solidFill>
              <a:srgbClr val="3A3A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6"/>
          <p:cNvSpPr/>
          <p:nvPr/>
        </p:nvSpPr>
        <p:spPr>
          <a:xfrm>
            <a:off x="4826000" y="2768600"/>
            <a:ext cx="63600" cy="1219200"/>
          </a:xfrm>
          <a:prstGeom prst="rect">
            <a:avLst/>
          </a:prstGeom>
          <a:solidFill>
            <a:srgbClr val="B3122D"/>
          </a:solidFill>
          <a:ln cap="flat" cmpd="sng" w="12700">
            <a:solidFill>
              <a:srgbClr val="B312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5029200" y="2768700"/>
            <a:ext cx="34797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B3122D"/>
                </a:solidFill>
              </a:rPr>
              <a:t>Triangulación</a:t>
            </a:r>
            <a:endParaRPr b="1" sz="1000">
              <a:solidFill>
                <a:srgbClr val="B3122D"/>
              </a:solidFill>
            </a:endParaRPr>
          </a:p>
        </p:txBody>
      </p:sp>
      <p:sp>
        <p:nvSpPr>
          <p:cNvPr id="134" name="Google Shape;134;p16"/>
          <p:cNvSpPr txBox="1"/>
          <p:nvPr/>
        </p:nvSpPr>
        <p:spPr>
          <a:xfrm>
            <a:off x="5029200" y="3097475"/>
            <a:ext cx="3479700" cy="7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F2F2F2"/>
                </a:solidFill>
              </a:rPr>
              <a:t>Genera tensión estética (MDA), pero la carga cognitiva se gestiona automatizando el ritmo en lugar de fallar más.</a:t>
            </a:r>
            <a:endParaRPr sz="1200">
              <a:solidFill>
                <a:srgbClr val="F2F2F2"/>
              </a:solidFill>
            </a:endParaRPr>
          </a:p>
        </p:txBody>
      </p:sp>
      <p:pic>
        <p:nvPicPr>
          <p:cNvPr id="135" name="Google Shape;135;p16" title="heart_spritesheet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81825" y="323858"/>
            <a:ext cx="1692100" cy="3948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B0D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7"/>
          <p:cNvSpPr txBox="1"/>
          <p:nvPr/>
        </p:nvSpPr>
        <p:spPr>
          <a:xfrm>
            <a:off x="431800" y="279400"/>
            <a:ext cx="73659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rgbClr val="F2F2F2"/>
                </a:solidFill>
              </a:rPr>
              <a:t>Hipótesis 2 - Uso de armarios (Seguridad)</a:t>
            </a:r>
            <a:endParaRPr b="1" sz="2200">
              <a:solidFill>
                <a:srgbClr val="F2F2F2"/>
              </a:solidFill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431800" y="774700"/>
            <a:ext cx="7112100" cy="38100"/>
          </a:xfrm>
          <a:prstGeom prst="rect">
            <a:avLst/>
          </a:prstGeom>
          <a:solidFill>
            <a:srgbClr val="B3122D"/>
          </a:solidFill>
          <a:ln cap="flat" cmpd="sng" w="12700">
            <a:solidFill>
              <a:srgbClr val="B312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431800" y="4724400"/>
            <a:ext cx="22860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B8B8B8"/>
                </a:solidFill>
              </a:rPr>
              <a:t>HeartBeat · GX</a:t>
            </a:r>
            <a:endParaRPr sz="800">
              <a:solidFill>
                <a:srgbClr val="B8B8B8"/>
              </a:solidFill>
            </a:endParaRPr>
          </a:p>
        </p:txBody>
      </p:sp>
      <p:sp>
        <p:nvSpPr>
          <p:cNvPr id="143" name="Google Shape;143;p17"/>
          <p:cNvSpPr txBox="1"/>
          <p:nvPr/>
        </p:nvSpPr>
        <p:spPr>
          <a:xfrm>
            <a:off x="8318500" y="4673600"/>
            <a:ext cx="406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B3122D"/>
                </a:solidFill>
              </a:rPr>
              <a:t>05</a:t>
            </a:r>
            <a:endParaRPr b="1" sz="1100">
              <a:solidFill>
                <a:srgbClr val="B3122D"/>
              </a:solidFill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431800" y="996900"/>
            <a:ext cx="2585100" cy="3467100"/>
          </a:xfrm>
          <a:prstGeom prst="rect">
            <a:avLst/>
          </a:prstGeom>
          <a:solidFill>
            <a:srgbClr val="101014"/>
          </a:solidFill>
          <a:ln cap="flat" cmpd="sng" w="23350">
            <a:solidFill>
              <a:srgbClr val="B312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025" lIns="84025" spcFirstLastPara="1" rIns="84025" wrap="square" tIns="84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7"/>
          </a:p>
        </p:txBody>
      </p:sp>
      <p:sp>
        <p:nvSpPr>
          <p:cNvPr id="145" name="Google Shape;145;p17"/>
          <p:cNvSpPr txBox="1"/>
          <p:nvPr/>
        </p:nvSpPr>
        <p:spPr>
          <a:xfrm>
            <a:off x="431800" y="4464000"/>
            <a:ext cx="4102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B8B8B8"/>
                </a:solidFill>
              </a:rPr>
              <a:t>[IMAGEN: Mapa de calor de uso de armarios (Hideouts)]</a:t>
            </a:r>
            <a:endParaRPr sz="900">
              <a:solidFill>
                <a:srgbClr val="B8B8B8"/>
              </a:solidFill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5334000" y="1219200"/>
            <a:ext cx="1549500" cy="1041300"/>
          </a:xfrm>
          <a:prstGeom prst="rect">
            <a:avLst/>
          </a:prstGeom>
          <a:solidFill>
            <a:srgbClr val="202026"/>
          </a:solidFill>
          <a:ln cap="flat" cmpd="sng" w="12700">
            <a:solidFill>
              <a:srgbClr val="7A0B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5511800" y="1219200"/>
            <a:ext cx="11937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F2F2F2"/>
                </a:solidFill>
              </a:rPr>
              <a:t>70%</a:t>
            </a:r>
            <a:endParaRPr b="1" sz="2400">
              <a:solidFill>
                <a:srgbClr val="F2F2F2"/>
              </a:solidFill>
            </a:endParaRPr>
          </a:p>
        </p:txBody>
      </p:sp>
      <p:sp>
        <p:nvSpPr>
          <p:cNvPr id="148" name="Google Shape;148;p17"/>
          <p:cNvSpPr txBox="1"/>
          <p:nvPr/>
        </p:nvSpPr>
        <p:spPr>
          <a:xfrm>
            <a:off x="5397600" y="1677300"/>
            <a:ext cx="1311000" cy="5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B8B8B8"/>
                </a:solidFill>
              </a:rPr>
              <a:t>Usos con enemigo cerca. Hipótesis Validada.</a:t>
            </a:r>
            <a:endParaRPr sz="1000">
              <a:solidFill>
                <a:srgbClr val="B8B8B8"/>
              </a:solidFill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7112000" y="1219200"/>
            <a:ext cx="1549500" cy="1041300"/>
          </a:xfrm>
          <a:prstGeom prst="rect">
            <a:avLst/>
          </a:prstGeom>
          <a:solidFill>
            <a:srgbClr val="202026"/>
          </a:solidFill>
          <a:ln cap="flat" cmpd="sng" w="12700">
            <a:solidFill>
              <a:srgbClr val="7A0B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7289800" y="1219200"/>
            <a:ext cx="11937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F2F2F2"/>
                </a:solidFill>
              </a:rPr>
              <a:t>17.7s</a:t>
            </a:r>
            <a:endParaRPr b="1" sz="2400">
              <a:solidFill>
                <a:srgbClr val="F2F2F2"/>
              </a:solidFill>
            </a:endParaRPr>
          </a:p>
        </p:txBody>
      </p:sp>
      <p:sp>
        <p:nvSpPr>
          <p:cNvPr id="151" name="Google Shape;151;p17"/>
          <p:cNvSpPr txBox="1"/>
          <p:nvPr/>
        </p:nvSpPr>
        <p:spPr>
          <a:xfrm>
            <a:off x="7350296" y="1677300"/>
            <a:ext cx="1311000" cy="5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B8B8B8"/>
                </a:solidFill>
              </a:rPr>
              <a:t>Tiempo medio dentro.</a:t>
            </a:r>
            <a:endParaRPr sz="1000">
              <a:solidFill>
                <a:srgbClr val="B8B8B8"/>
              </a:solidFill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5334000" y="2514600"/>
            <a:ext cx="3327300" cy="736500"/>
          </a:xfrm>
          <a:prstGeom prst="rect">
            <a:avLst/>
          </a:prstGeom>
          <a:solidFill>
            <a:srgbClr val="17171A"/>
          </a:solidFill>
          <a:ln cap="flat" cmpd="sng" w="12700">
            <a:solidFill>
              <a:srgbClr val="3A3A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7"/>
          <p:cNvSpPr/>
          <p:nvPr/>
        </p:nvSpPr>
        <p:spPr>
          <a:xfrm>
            <a:off x="5334000" y="2514600"/>
            <a:ext cx="63600" cy="736500"/>
          </a:xfrm>
          <a:prstGeom prst="rect">
            <a:avLst/>
          </a:prstGeom>
          <a:solidFill>
            <a:srgbClr val="B3122D"/>
          </a:solidFill>
          <a:ln cap="flat" cmpd="sng" w="12700">
            <a:solidFill>
              <a:srgbClr val="B312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5537200" y="2514700"/>
            <a:ext cx="29718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B3122D"/>
                </a:solidFill>
              </a:rPr>
              <a:t>GUR</a:t>
            </a:r>
            <a:endParaRPr b="1" sz="1000">
              <a:solidFill>
                <a:srgbClr val="B3122D"/>
              </a:solidFill>
            </a:endParaRPr>
          </a:p>
        </p:txBody>
      </p:sp>
      <p:sp>
        <p:nvSpPr>
          <p:cNvPr id="155" name="Google Shape;155;p17"/>
          <p:cNvSpPr txBox="1"/>
          <p:nvPr/>
        </p:nvSpPr>
        <p:spPr>
          <a:xfrm>
            <a:off x="5537200" y="2677800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F2F2F2"/>
                </a:solidFill>
              </a:rPr>
              <a:t>Sentimiento de "alivio" y tiempo para estudiar rutas.</a:t>
            </a:r>
            <a:endParaRPr sz="1200">
              <a:solidFill>
                <a:srgbClr val="F2F2F2"/>
              </a:solidFill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5334000" y="3479800"/>
            <a:ext cx="3327300" cy="812700"/>
          </a:xfrm>
          <a:prstGeom prst="rect">
            <a:avLst/>
          </a:prstGeom>
          <a:solidFill>
            <a:srgbClr val="17171A"/>
          </a:solidFill>
          <a:ln cap="flat" cmpd="sng" w="12700">
            <a:solidFill>
              <a:srgbClr val="3A3A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7"/>
          <p:cNvSpPr/>
          <p:nvPr/>
        </p:nvSpPr>
        <p:spPr>
          <a:xfrm>
            <a:off x="5334000" y="3479800"/>
            <a:ext cx="63600" cy="812700"/>
          </a:xfrm>
          <a:prstGeom prst="rect">
            <a:avLst/>
          </a:prstGeom>
          <a:solidFill>
            <a:srgbClr val="B3122D"/>
          </a:solidFill>
          <a:ln cap="flat" cmpd="sng" w="12700">
            <a:solidFill>
              <a:srgbClr val="B312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5537200" y="3479900"/>
            <a:ext cx="29718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B3122D"/>
                </a:solidFill>
              </a:rPr>
              <a:t>Triangulación</a:t>
            </a:r>
            <a:endParaRPr b="1" sz="1000">
              <a:solidFill>
                <a:srgbClr val="B3122D"/>
              </a:solidFill>
            </a:endParaRPr>
          </a:p>
        </p:txBody>
      </p:sp>
      <p:sp>
        <p:nvSpPr>
          <p:cNvPr id="159" name="Google Shape;159;p17"/>
          <p:cNvSpPr txBox="1"/>
          <p:nvPr/>
        </p:nvSpPr>
        <p:spPr>
          <a:xfrm>
            <a:off x="5537200" y="3719100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F2F2F2"/>
                </a:solidFill>
              </a:rPr>
              <a:t>Excelente nodo de seguridad. Dinámica y estética alineadas con el diseño.</a:t>
            </a:r>
            <a:endParaRPr sz="1200">
              <a:solidFill>
                <a:srgbClr val="F2F2F2"/>
              </a:solidFill>
            </a:endParaRPr>
          </a:p>
        </p:txBody>
      </p:sp>
      <p:pic>
        <p:nvPicPr>
          <p:cNvPr id="160" name="Google Shape;160;p17" title="Armar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07240" y="1022956"/>
            <a:ext cx="1669639" cy="336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/>
          <p:cNvPicPr preferRelativeResize="0"/>
          <p:nvPr/>
        </p:nvPicPr>
        <p:blipFill rotWithShape="1">
          <a:blip r:embed="rId4">
            <a:alphaModFix/>
          </a:blip>
          <a:srcRect b="8182" l="27899" r="25602" t="6326"/>
          <a:stretch/>
        </p:blipFill>
        <p:spPr>
          <a:xfrm>
            <a:off x="514206" y="1113637"/>
            <a:ext cx="2389692" cy="32335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B0D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8"/>
          <p:cNvSpPr txBox="1"/>
          <p:nvPr/>
        </p:nvSpPr>
        <p:spPr>
          <a:xfrm>
            <a:off x="431800" y="279400"/>
            <a:ext cx="73659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rgbClr val="F2F2F2"/>
                </a:solidFill>
              </a:rPr>
              <a:t>Hipótesis 3 - Fatiga como castigo</a:t>
            </a:r>
            <a:endParaRPr b="1" sz="2200">
              <a:solidFill>
                <a:srgbClr val="F2F2F2"/>
              </a:solidFill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431800" y="774700"/>
            <a:ext cx="7112100" cy="38100"/>
          </a:xfrm>
          <a:prstGeom prst="rect">
            <a:avLst/>
          </a:prstGeom>
          <a:solidFill>
            <a:srgbClr val="B3122D"/>
          </a:solidFill>
          <a:ln cap="flat" cmpd="sng" w="12700">
            <a:solidFill>
              <a:srgbClr val="B312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431800" y="4724400"/>
            <a:ext cx="22860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B8B8B8"/>
                </a:solidFill>
              </a:rPr>
              <a:t>HeartBeat · GX</a:t>
            </a:r>
            <a:endParaRPr sz="800">
              <a:solidFill>
                <a:srgbClr val="B8B8B8"/>
              </a:solidFill>
            </a:endParaRPr>
          </a:p>
        </p:txBody>
      </p:sp>
      <p:sp>
        <p:nvSpPr>
          <p:cNvPr id="169" name="Google Shape;169;p18"/>
          <p:cNvSpPr txBox="1"/>
          <p:nvPr/>
        </p:nvSpPr>
        <p:spPr>
          <a:xfrm>
            <a:off x="8318500" y="4673600"/>
            <a:ext cx="406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B3122D"/>
                </a:solidFill>
              </a:rPr>
              <a:t>06</a:t>
            </a:r>
            <a:endParaRPr b="1" sz="1100">
              <a:solidFill>
                <a:srgbClr val="B3122D"/>
              </a:solidFill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482600" y="1219200"/>
            <a:ext cx="3810000" cy="787500"/>
          </a:xfrm>
          <a:prstGeom prst="rect">
            <a:avLst/>
          </a:prstGeom>
          <a:solidFill>
            <a:srgbClr val="17171A"/>
          </a:solidFill>
          <a:ln cap="flat" cmpd="sng" w="12700">
            <a:solidFill>
              <a:srgbClr val="3A3A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8"/>
          <p:cNvSpPr/>
          <p:nvPr/>
        </p:nvSpPr>
        <p:spPr>
          <a:xfrm>
            <a:off x="482600" y="1219200"/>
            <a:ext cx="63600" cy="787500"/>
          </a:xfrm>
          <a:prstGeom prst="rect">
            <a:avLst/>
          </a:prstGeom>
          <a:solidFill>
            <a:srgbClr val="B3122D"/>
          </a:solidFill>
          <a:ln cap="flat" cmpd="sng" w="12700">
            <a:solidFill>
              <a:srgbClr val="B312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685800" y="1269900"/>
            <a:ext cx="3454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B3122D"/>
                </a:solidFill>
              </a:rPr>
              <a:t>Planteamiento</a:t>
            </a:r>
            <a:endParaRPr b="1" sz="1000">
              <a:solidFill>
                <a:srgbClr val="B3122D"/>
              </a:solidFill>
            </a:endParaRPr>
          </a:p>
        </p:txBody>
      </p:sp>
      <p:sp>
        <p:nvSpPr>
          <p:cNvPr id="173" name="Google Shape;173;p18"/>
          <p:cNvSpPr txBox="1"/>
          <p:nvPr/>
        </p:nvSpPr>
        <p:spPr>
          <a:xfrm>
            <a:off x="685800" y="1536900"/>
            <a:ext cx="34545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F2F2F2"/>
                </a:solidFill>
              </a:rPr>
              <a:t>Fallar el pulso 3 veces inmoviliza al jugador.</a:t>
            </a:r>
            <a:endParaRPr sz="1200">
              <a:solidFill>
                <a:srgbClr val="F2F2F2"/>
              </a:solidFill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4826000" y="1219200"/>
            <a:ext cx="3835500" cy="1168500"/>
          </a:xfrm>
          <a:prstGeom prst="rect">
            <a:avLst/>
          </a:prstGeom>
          <a:solidFill>
            <a:srgbClr val="202026"/>
          </a:solidFill>
          <a:ln cap="flat" cmpd="sng" w="12700">
            <a:solidFill>
              <a:srgbClr val="7A0B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5003800" y="1384300"/>
            <a:ext cx="34797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F2F2F2"/>
                </a:solidFill>
              </a:rPr>
              <a:t>12.9%</a:t>
            </a:r>
            <a:endParaRPr b="1" sz="2400">
              <a:solidFill>
                <a:srgbClr val="F2F2F2"/>
              </a:solidFill>
            </a:endParaRPr>
          </a:p>
        </p:txBody>
      </p:sp>
      <p:sp>
        <p:nvSpPr>
          <p:cNvPr id="176" name="Google Shape;176;p18"/>
          <p:cNvSpPr txBox="1"/>
          <p:nvPr/>
        </p:nvSpPr>
        <p:spPr>
          <a:xfrm>
            <a:off x="5003800" y="1854200"/>
            <a:ext cx="34797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B8B8B8"/>
                </a:solidFill>
              </a:rPr>
              <a:t>Detecciones del enemigo en estado de fatiga. Hipótesis Validada.</a:t>
            </a:r>
            <a:endParaRPr sz="1000">
              <a:solidFill>
                <a:srgbClr val="B8B8B8"/>
              </a:solidFill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482600" y="2463800"/>
            <a:ext cx="3810000" cy="736500"/>
          </a:xfrm>
          <a:prstGeom prst="rect">
            <a:avLst/>
          </a:prstGeom>
          <a:solidFill>
            <a:srgbClr val="17171A"/>
          </a:solidFill>
          <a:ln cap="flat" cmpd="sng" w="12700">
            <a:solidFill>
              <a:srgbClr val="3A3A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8"/>
          <p:cNvSpPr/>
          <p:nvPr/>
        </p:nvSpPr>
        <p:spPr>
          <a:xfrm>
            <a:off x="482600" y="2463800"/>
            <a:ext cx="63600" cy="736500"/>
          </a:xfrm>
          <a:prstGeom prst="rect">
            <a:avLst/>
          </a:prstGeom>
          <a:solidFill>
            <a:srgbClr val="B3122D"/>
          </a:solidFill>
          <a:ln cap="flat" cmpd="sng" w="12700">
            <a:solidFill>
              <a:srgbClr val="B312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685800" y="2463800"/>
            <a:ext cx="34545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B3122D"/>
                </a:solidFill>
              </a:rPr>
              <a:t>GUR</a:t>
            </a:r>
            <a:endParaRPr b="1" sz="1000">
              <a:solidFill>
                <a:srgbClr val="B3122D"/>
              </a:solidFill>
            </a:endParaRPr>
          </a:p>
        </p:txBody>
      </p:sp>
      <p:sp>
        <p:nvSpPr>
          <p:cNvPr id="180" name="Google Shape;180;p18"/>
          <p:cNvSpPr txBox="1"/>
          <p:nvPr/>
        </p:nvSpPr>
        <p:spPr>
          <a:xfrm>
            <a:off x="685800" y="2730500"/>
            <a:ext cx="34545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F2F2F2"/>
                </a:solidFill>
              </a:rPr>
              <a:t>"No entendía por qué no me podía mover".</a:t>
            </a:r>
            <a:endParaRPr sz="1200">
              <a:solidFill>
                <a:srgbClr val="F2F2F2"/>
              </a:solidFill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4826000" y="2819400"/>
            <a:ext cx="3835500" cy="1041300"/>
          </a:xfrm>
          <a:prstGeom prst="rect">
            <a:avLst/>
          </a:prstGeom>
          <a:solidFill>
            <a:srgbClr val="17171A"/>
          </a:solidFill>
          <a:ln cap="flat" cmpd="sng" w="12700">
            <a:solidFill>
              <a:srgbClr val="3A3A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8"/>
          <p:cNvSpPr/>
          <p:nvPr/>
        </p:nvSpPr>
        <p:spPr>
          <a:xfrm>
            <a:off x="4826000" y="2819400"/>
            <a:ext cx="63600" cy="1041300"/>
          </a:xfrm>
          <a:prstGeom prst="rect">
            <a:avLst/>
          </a:prstGeom>
          <a:solidFill>
            <a:srgbClr val="B3122D"/>
          </a:solidFill>
          <a:ln cap="flat" cmpd="sng" w="12700">
            <a:solidFill>
              <a:srgbClr val="B312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5029200" y="2946400"/>
            <a:ext cx="3479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B3122D"/>
                </a:solidFill>
              </a:rPr>
              <a:t>Triangulación</a:t>
            </a:r>
            <a:endParaRPr b="1" sz="1000">
              <a:solidFill>
                <a:srgbClr val="B3122D"/>
              </a:solidFill>
            </a:endParaRPr>
          </a:p>
        </p:txBody>
      </p:sp>
      <p:sp>
        <p:nvSpPr>
          <p:cNvPr id="184" name="Google Shape;184;p18"/>
          <p:cNvSpPr txBox="1"/>
          <p:nvPr/>
        </p:nvSpPr>
        <p:spPr>
          <a:xfrm>
            <a:off x="5029200" y="3238500"/>
            <a:ext cx="3479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F2F2F2"/>
                </a:solidFill>
              </a:rPr>
              <a:t>El castigo funciona mecánicamente, pero falla la comunicación visual de la interfaz.</a:t>
            </a:r>
            <a:endParaRPr sz="1200">
              <a:solidFill>
                <a:srgbClr val="F2F2F2"/>
              </a:solidFill>
            </a:endParaRPr>
          </a:p>
        </p:txBody>
      </p:sp>
      <p:pic>
        <p:nvPicPr>
          <p:cNvPr id="185" name="Google Shape;185;p18" title="sweat_play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7550" y="3386600"/>
            <a:ext cx="2591000" cy="129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B0D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19" title="Caj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991700" y="-504150"/>
            <a:ext cx="10123474" cy="662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 title="Reloj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24725" y="0"/>
            <a:ext cx="6003300" cy="600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9" title="Pasti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19044" y="476150"/>
            <a:ext cx="4742124" cy="4742124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9"/>
          <p:cNvSpPr txBox="1"/>
          <p:nvPr/>
        </p:nvSpPr>
        <p:spPr>
          <a:xfrm>
            <a:off x="431800" y="279400"/>
            <a:ext cx="73659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rgbClr val="F2F2F2"/>
                </a:solidFill>
              </a:rPr>
              <a:t>Hipótesis 4 - Uso de objetos (Consumibles)</a:t>
            </a:r>
            <a:endParaRPr b="1" sz="2200">
              <a:solidFill>
                <a:srgbClr val="F2F2F2"/>
              </a:solidFill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431800" y="774700"/>
            <a:ext cx="7112100" cy="38100"/>
          </a:xfrm>
          <a:prstGeom prst="rect">
            <a:avLst/>
          </a:prstGeom>
          <a:solidFill>
            <a:srgbClr val="B3122D"/>
          </a:solidFill>
          <a:ln cap="flat" cmpd="sng" w="12700">
            <a:solidFill>
              <a:srgbClr val="B312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431800" y="4724400"/>
            <a:ext cx="22860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B8B8B8"/>
                </a:solidFill>
              </a:rPr>
              <a:t>HeartBeat · GX</a:t>
            </a:r>
            <a:endParaRPr sz="800">
              <a:solidFill>
                <a:srgbClr val="B8B8B8"/>
              </a:solidFill>
            </a:endParaRPr>
          </a:p>
        </p:txBody>
      </p:sp>
      <p:sp>
        <p:nvSpPr>
          <p:cNvPr id="196" name="Google Shape;196;p19"/>
          <p:cNvSpPr txBox="1"/>
          <p:nvPr/>
        </p:nvSpPr>
        <p:spPr>
          <a:xfrm>
            <a:off x="8318500" y="4673600"/>
            <a:ext cx="406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B3122D"/>
                </a:solidFill>
              </a:rPr>
              <a:t>07</a:t>
            </a:r>
            <a:endParaRPr b="1" sz="1100">
              <a:solidFill>
                <a:srgbClr val="B3122D"/>
              </a:solidFill>
            </a:endParaRPr>
          </a:p>
        </p:txBody>
      </p:sp>
      <p:sp>
        <p:nvSpPr>
          <p:cNvPr id="197" name="Google Shape;197;p19"/>
          <p:cNvSpPr/>
          <p:nvPr/>
        </p:nvSpPr>
        <p:spPr>
          <a:xfrm>
            <a:off x="482600" y="1244600"/>
            <a:ext cx="2412900" cy="1168500"/>
          </a:xfrm>
          <a:prstGeom prst="rect">
            <a:avLst/>
          </a:prstGeom>
          <a:solidFill>
            <a:srgbClr val="202026"/>
          </a:solidFill>
          <a:ln cap="flat" cmpd="sng" w="12700">
            <a:solidFill>
              <a:srgbClr val="7A0B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660400" y="1409700"/>
            <a:ext cx="20574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F2F2F2"/>
                </a:solidFill>
              </a:rPr>
              <a:t>67.4%</a:t>
            </a:r>
            <a:endParaRPr b="1" sz="2400">
              <a:solidFill>
                <a:srgbClr val="F2F2F2"/>
              </a:solidFill>
            </a:endParaRPr>
          </a:p>
        </p:txBody>
      </p:sp>
      <p:sp>
        <p:nvSpPr>
          <p:cNvPr id="199" name="Google Shape;199;p19"/>
          <p:cNvSpPr txBox="1"/>
          <p:nvPr/>
        </p:nvSpPr>
        <p:spPr>
          <a:xfrm>
            <a:off x="660400" y="1879600"/>
            <a:ext cx="20574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B8B8B8"/>
                </a:solidFill>
              </a:rPr>
              <a:t>Uso bajo amenaza. Hipótesis Validada.</a:t>
            </a:r>
            <a:endParaRPr sz="1000">
              <a:solidFill>
                <a:srgbClr val="B8B8B8"/>
              </a:solidFill>
            </a:endParaRPr>
          </a:p>
        </p:txBody>
      </p:sp>
      <p:sp>
        <p:nvSpPr>
          <p:cNvPr id="200" name="Google Shape;200;p19"/>
          <p:cNvSpPr/>
          <p:nvPr/>
        </p:nvSpPr>
        <p:spPr>
          <a:xfrm>
            <a:off x="3365500" y="1244600"/>
            <a:ext cx="2412900" cy="1168500"/>
          </a:xfrm>
          <a:prstGeom prst="rect">
            <a:avLst/>
          </a:prstGeom>
          <a:solidFill>
            <a:srgbClr val="202026"/>
          </a:solidFill>
          <a:ln cap="flat" cmpd="sng" w="12700">
            <a:solidFill>
              <a:srgbClr val="7A0B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3543300" y="1409700"/>
            <a:ext cx="20574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F2F2F2"/>
                </a:solidFill>
              </a:rPr>
              <a:t>84.2%</a:t>
            </a:r>
            <a:endParaRPr b="1" sz="2400">
              <a:solidFill>
                <a:srgbClr val="F2F2F2"/>
              </a:solidFill>
            </a:endParaRPr>
          </a:p>
        </p:txBody>
      </p:sp>
      <p:sp>
        <p:nvSpPr>
          <p:cNvPr id="202" name="Google Shape;202;p19"/>
          <p:cNvSpPr txBox="1"/>
          <p:nvPr/>
        </p:nvSpPr>
        <p:spPr>
          <a:xfrm>
            <a:off x="3543300" y="1879600"/>
            <a:ext cx="20574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B8B8B8"/>
                </a:solidFill>
              </a:rPr>
              <a:t>Uso de la Caja.</a:t>
            </a:r>
            <a:endParaRPr sz="1000">
              <a:solidFill>
                <a:srgbClr val="B8B8B8"/>
              </a:solidFill>
            </a:endParaRPr>
          </a:p>
        </p:txBody>
      </p:sp>
      <p:sp>
        <p:nvSpPr>
          <p:cNvPr id="203" name="Google Shape;203;p19"/>
          <p:cNvSpPr/>
          <p:nvPr/>
        </p:nvSpPr>
        <p:spPr>
          <a:xfrm>
            <a:off x="6248400" y="1244600"/>
            <a:ext cx="2412900" cy="1168500"/>
          </a:xfrm>
          <a:prstGeom prst="rect">
            <a:avLst/>
          </a:prstGeom>
          <a:solidFill>
            <a:srgbClr val="202026"/>
          </a:solidFill>
          <a:ln cap="flat" cmpd="sng" w="12700">
            <a:solidFill>
              <a:srgbClr val="7A0B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6426200" y="1409700"/>
            <a:ext cx="20574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F2F2F2"/>
                </a:solidFill>
              </a:rPr>
              <a:t>36.4%</a:t>
            </a:r>
            <a:endParaRPr b="1" sz="2400">
              <a:solidFill>
                <a:srgbClr val="F2F2F2"/>
              </a:solidFill>
            </a:endParaRPr>
          </a:p>
        </p:txBody>
      </p:sp>
      <p:sp>
        <p:nvSpPr>
          <p:cNvPr id="205" name="Google Shape;205;p19"/>
          <p:cNvSpPr txBox="1"/>
          <p:nvPr/>
        </p:nvSpPr>
        <p:spPr>
          <a:xfrm>
            <a:off x="6426200" y="1879600"/>
            <a:ext cx="20574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B8B8B8"/>
                </a:solidFill>
              </a:rPr>
              <a:t>Uso de la Píldora.</a:t>
            </a:r>
            <a:endParaRPr sz="1000">
              <a:solidFill>
                <a:srgbClr val="B8B8B8"/>
              </a:solidFill>
            </a:endParaRPr>
          </a:p>
        </p:txBody>
      </p:sp>
      <p:sp>
        <p:nvSpPr>
          <p:cNvPr id="206" name="Google Shape;206;p19"/>
          <p:cNvSpPr/>
          <p:nvPr/>
        </p:nvSpPr>
        <p:spPr>
          <a:xfrm>
            <a:off x="482600" y="2844800"/>
            <a:ext cx="3835500" cy="1117500"/>
          </a:xfrm>
          <a:prstGeom prst="rect">
            <a:avLst/>
          </a:prstGeom>
          <a:solidFill>
            <a:srgbClr val="17171A"/>
          </a:solidFill>
          <a:ln cap="flat" cmpd="sng" w="12700">
            <a:solidFill>
              <a:srgbClr val="3A3A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9"/>
          <p:cNvSpPr/>
          <p:nvPr/>
        </p:nvSpPr>
        <p:spPr>
          <a:xfrm>
            <a:off x="482600" y="2844800"/>
            <a:ext cx="63600" cy="1117500"/>
          </a:xfrm>
          <a:prstGeom prst="rect">
            <a:avLst/>
          </a:prstGeom>
          <a:solidFill>
            <a:srgbClr val="B3122D"/>
          </a:solidFill>
          <a:ln cap="flat" cmpd="sng" w="12700">
            <a:solidFill>
              <a:srgbClr val="B312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9"/>
          <p:cNvSpPr txBox="1"/>
          <p:nvPr/>
        </p:nvSpPr>
        <p:spPr>
          <a:xfrm>
            <a:off x="685800" y="2971800"/>
            <a:ext cx="3479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B3122D"/>
                </a:solidFill>
              </a:rPr>
              <a:t>GUR</a:t>
            </a:r>
            <a:endParaRPr b="1" sz="1000">
              <a:solidFill>
                <a:srgbClr val="B3122D"/>
              </a:solidFill>
            </a:endParaRPr>
          </a:p>
        </p:txBody>
      </p:sp>
      <p:sp>
        <p:nvSpPr>
          <p:cNvPr id="209" name="Google Shape;209;p19"/>
          <p:cNvSpPr txBox="1"/>
          <p:nvPr/>
        </p:nvSpPr>
        <p:spPr>
          <a:xfrm>
            <a:off x="685800" y="3263900"/>
            <a:ext cx="34797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F2F2F2"/>
                </a:solidFill>
              </a:rPr>
              <a:t>"La píldora no sabía ni qué era". Quejas de mapeo de controles ("intentaba cogerla a la K").</a:t>
            </a:r>
            <a:endParaRPr sz="1200">
              <a:solidFill>
                <a:srgbClr val="F2F2F2"/>
              </a:solidFill>
            </a:endParaRPr>
          </a:p>
        </p:txBody>
      </p:sp>
      <p:sp>
        <p:nvSpPr>
          <p:cNvPr id="210" name="Google Shape;210;p19"/>
          <p:cNvSpPr/>
          <p:nvPr/>
        </p:nvSpPr>
        <p:spPr>
          <a:xfrm>
            <a:off x="4826000" y="2844800"/>
            <a:ext cx="3835500" cy="1117500"/>
          </a:xfrm>
          <a:prstGeom prst="rect">
            <a:avLst/>
          </a:prstGeom>
          <a:solidFill>
            <a:srgbClr val="17171A"/>
          </a:solidFill>
          <a:ln cap="flat" cmpd="sng" w="12700">
            <a:solidFill>
              <a:srgbClr val="3A3A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9"/>
          <p:cNvSpPr/>
          <p:nvPr/>
        </p:nvSpPr>
        <p:spPr>
          <a:xfrm>
            <a:off x="4826000" y="2844800"/>
            <a:ext cx="63600" cy="1117500"/>
          </a:xfrm>
          <a:prstGeom prst="rect">
            <a:avLst/>
          </a:prstGeom>
          <a:solidFill>
            <a:srgbClr val="B3122D"/>
          </a:solidFill>
          <a:ln cap="flat" cmpd="sng" w="12700">
            <a:solidFill>
              <a:srgbClr val="B312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9"/>
          <p:cNvSpPr txBox="1"/>
          <p:nvPr/>
        </p:nvSpPr>
        <p:spPr>
          <a:xfrm>
            <a:off x="5029200" y="2971800"/>
            <a:ext cx="3479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B3122D"/>
                </a:solidFill>
              </a:rPr>
              <a:t>Triangulación</a:t>
            </a:r>
            <a:endParaRPr b="1" sz="1000">
              <a:solidFill>
                <a:srgbClr val="B3122D"/>
              </a:solidFill>
            </a:endParaRPr>
          </a:p>
        </p:txBody>
      </p:sp>
      <p:sp>
        <p:nvSpPr>
          <p:cNvPr id="213" name="Google Shape;213;p19"/>
          <p:cNvSpPr txBox="1"/>
          <p:nvPr/>
        </p:nvSpPr>
        <p:spPr>
          <a:xfrm>
            <a:off x="5029200" y="3263900"/>
            <a:ext cx="34797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F2F2F2"/>
                </a:solidFill>
              </a:rPr>
              <a:t>Uso táctico real, lastrado por falta de affordance en la píldora y usabilidad de controles.</a:t>
            </a:r>
            <a:endParaRPr sz="1200">
              <a:solidFill>
                <a:srgbClr val="F2F2F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B0D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/>
          <p:cNvSpPr/>
          <p:nvPr/>
        </p:nvSpPr>
        <p:spPr>
          <a:xfrm>
            <a:off x="5289054" y="1193800"/>
            <a:ext cx="2831400" cy="2615100"/>
          </a:xfrm>
          <a:prstGeom prst="rect">
            <a:avLst/>
          </a:prstGeom>
          <a:solidFill>
            <a:srgbClr val="101014"/>
          </a:solidFill>
          <a:ln cap="flat" cmpd="sng" w="25400">
            <a:solidFill>
              <a:srgbClr val="B312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431800" y="279400"/>
            <a:ext cx="73659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rgbClr val="F2F2F2"/>
                </a:solidFill>
              </a:rPr>
              <a:t>Análisis Espacial</a:t>
            </a:r>
            <a:endParaRPr b="1" sz="2200">
              <a:solidFill>
                <a:srgbClr val="F2F2F2"/>
              </a:solidFill>
            </a:endParaRPr>
          </a:p>
        </p:txBody>
      </p:sp>
      <p:sp>
        <p:nvSpPr>
          <p:cNvPr id="220" name="Google Shape;220;p20"/>
          <p:cNvSpPr/>
          <p:nvPr/>
        </p:nvSpPr>
        <p:spPr>
          <a:xfrm>
            <a:off x="431800" y="774700"/>
            <a:ext cx="7112100" cy="38100"/>
          </a:xfrm>
          <a:prstGeom prst="rect">
            <a:avLst/>
          </a:prstGeom>
          <a:solidFill>
            <a:srgbClr val="B3122D"/>
          </a:solidFill>
          <a:ln cap="flat" cmpd="sng" w="12700">
            <a:solidFill>
              <a:srgbClr val="B312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431800" y="4724400"/>
            <a:ext cx="22860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B8B8B8"/>
                </a:solidFill>
              </a:rPr>
              <a:t>HeartBeat · GX</a:t>
            </a:r>
            <a:endParaRPr sz="800">
              <a:solidFill>
                <a:srgbClr val="B8B8B8"/>
              </a:solidFill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8318500" y="4673600"/>
            <a:ext cx="406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B3122D"/>
                </a:solidFill>
              </a:rPr>
              <a:t>08</a:t>
            </a:r>
            <a:endParaRPr b="1" sz="1100">
              <a:solidFill>
                <a:srgbClr val="B3122D"/>
              </a:solidFill>
            </a:endParaRPr>
          </a:p>
        </p:txBody>
      </p:sp>
      <p:sp>
        <p:nvSpPr>
          <p:cNvPr id="223" name="Google Shape;223;p20"/>
          <p:cNvSpPr/>
          <p:nvPr/>
        </p:nvSpPr>
        <p:spPr>
          <a:xfrm>
            <a:off x="994429" y="1193800"/>
            <a:ext cx="3786000" cy="2603400"/>
          </a:xfrm>
          <a:prstGeom prst="rect">
            <a:avLst/>
          </a:prstGeom>
          <a:solidFill>
            <a:srgbClr val="101014"/>
          </a:solidFill>
          <a:ln cap="flat" cmpd="sng" w="25400">
            <a:solidFill>
              <a:srgbClr val="B312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0"/>
          <p:cNvSpPr/>
          <p:nvPr/>
        </p:nvSpPr>
        <p:spPr>
          <a:xfrm>
            <a:off x="1046629" y="1320800"/>
            <a:ext cx="3606900" cy="2070000"/>
          </a:xfrm>
          <a:prstGeom prst="rect">
            <a:avLst/>
          </a:prstGeom>
          <a:solidFill>
            <a:srgbClr val="18181E"/>
          </a:solidFill>
          <a:ln cap="flat" cmpd="sng" w="12700">
            <a:solidFill>
              <a:srgbClr val="3A3A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0"/>
          <p:cNvSpPr txBox="1"/>
          <p:nvPr/>
        </p:nvSpPr>
        <p:spPr>
          <a:xfrm>
            <a:off x="1224429" y="2241550"/>
            <a:ext cx="3251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2F2F2"/>
                </a:solidFill>
              </a:rPr>
              <a:t>INSERTAR CAPTURA AQUÍ</a:t>
            </a:r>
            <a:endParaRPr b="1" sz="1200">
              <a:solidFill>
                <a:srgbClr val="F2F2F2"/>
              </a:solidFill>
            </a:endParaRPr>
          </a:p>
        </p:txBody>
      </p:sp>
      <p:sp>
        <p:nvSpPr>
          <p:cNvPr id="226" name="Google Shape;226;p20"/>
          <p:cNvSpPr txBox="1"/>
          <p:nvPr/>
        </p:nvSpPr>
        <p:spPr>
          <a:xfrm>
            <a:off x="5542429" y="2241550"/>
            <a:ext cx="3251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2F2F2"/>
                </a:solidFill>
              </a:rPr>
              <a:t>INSERTAR CAPTURA AQUÍ</a:t>
            </a:r>
            <a:endParaRPr b="1" sz="1200">
              <a:solidFill>
                <a:srgbClr val="F2F2F2"/>
              </a:solidFill>
            </a:endParaRPr>
          </a:p>
        </p:txBody>
      </p:sp>
      <p:sp>
        <p:nvSpPr>
          <p:cNvPr id="227" name="Google Shape;227;p20"/>
          <p:cNvSpPr/>
          <p:nvPr/>
        </p:nvSpPr>
        <p:spPr>
          <a:xfrm>
            <a:off x="482600" y="4055450"/>
            <a:ext cx="8178900" cy="722700"/>
          </a:xfrm>
          <a:prstGeom prst="rect">
            <a:avLst/>
          </a:prstGeom>
          <a:solidFill>
            <a:srgbClr val="17171A"/>
          </a:solidFill>
          <a:ln cap="flat" cmpd="sng" w="12700">
            <a:solidFill>
              <a:srgbClr val="3A3A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0"/>
          <p:cNvSpPr/>
          <p:nvPr/>
        </p:nvSpPr>
        <p:spPr>
          <a:xfrm>
            <a:off x="482600" y="4055450"/>
            <a:ext cx="63600" cy="722700"/>
          </a:xfrm>
          <a:prstGeom prst="rect">
            <a:avLst/>
          </a:prstGeom>
          <a:solidFill>
            <a:srgbClr val="B3122D"/>
          </a:solidFill>
          <a:ln cap="flat" cmpd="sng" w="12700">
            <a:solidFill>
              <a:srgbClr val="B312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0"/>
          <p:cNvSpPr txBox="1"/>
          <p:nvPr/>
        </p:nvSpPr>
        <p:spPr>
          <a:xfrm>
            <a:off x="685800" y="3979250"/>
            <a:ext cx="78231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B3122D"/>
                </a:solidFill>
              </a:rPr>
              <a:t>Conclusión</a:t>
            </a:r>
            <a:endParaRPr b="1" sz="1000">
              <a:solidFill>
                <a:srgbClr val="B3122D"/>
              </a:solidFill>
            </a:endParaRPr>
          </a:p>
        </p:txBody>
      </p:sp>
      <p:sp>
        <p:nvSpPr>
          <p:cNvPr id="230" name="Google Shape;230;p20"/>
          <p:cNvSpPr txBox="1"/>
          <p:nvPr/>
        </p:nvSpPr>
        <p:spPr>
          <a:xfrm>
            <a:off x="685800" y="4167500"/>
            <a:ext cx="7823100" cy="5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F2F2F2"/>
                </a:solidFill>
              </a:rPr>
              <a:t>Las muertes se concentran en pasillos rectos y zonas con muchos enemigos o enemigos avanzados. Los jugadores siguen la ruta prevista y usan los armarios en las zonas complicadas. No usan todos los armarios, algunos donde no hay mucha dificultad se los saltan.</a:t>
            </a:r>
            <a:endParaRPr sz="1100">
              <a:solidFill>
                <a:srgbClr val="F2F2F2"/>
              </a:solidFill>
            </a:endParaRPr>
          </a:p>
        </p:txBody>
      </p:sp>
      <p:pic>
        <p:nvPicPr>
          <p:cNvPr id="231" name="Google Shape;231;p20"/>
          <p:cNvPicPr preferRelativeResize="0"/>
          <p:nvPr/>
        </p:nvPicPr>
        <p:blipFill rotWithShape="1">
          <a:blip r:embed="rId3">
            <a:alphaModFix/>
          </a:blip>
          <a:srcRect b="8134" l="26970" r="25329" t="6330"/>
          <a:stretch/>
        </p:blipFill>
        <p:spPr>
          <a:xfrm>
            <a:off x="994435" y="1233824"/>
            <a:ext cx="1919396" cy="253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0"/>
          <p:cNvPicPr preferRelativeResize="0"/>
          <p:nvPr/>
        </p:nvPicPr>
        <p:blipFill rotWithShape="1">
          <a:blip r:embed="rId4">
            <a:alphaModFix/>
          </a:blip>
          <a:srcRect b="6643" l="27653" r="25849" t="6181"/>
          <a:stretch/>
        </p:blipFill>
        <p:spPr>
          <a:xfrm>
            <a:off x="2903422" y="1229443"/>
            <a:ext cx="1835700" cy="2532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0" title="lvl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86191" y="1205425"/>
            <a:ext cx="2831275" cy="260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0"/>
          <p:cNvPicPr preferRelativeResize="0"/>
          <p:nvPr/>
        </p:nvPicPr>
        <p:blipFill rotWithShape="1">
          <a:blip r:embed="rId6">
            <a:alphaModFix/>
          </a:blip>
          <a:srcRect b="6452" l="13782" r="13869" t="5403"/>
          <a:stretch/>
        </p:blipFill>
        <p:spPr>
          <a:xfrm>
            <a:off x="5299342" y="1254444"/>
            <a:ext cx="2810949" cy="2520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0"/>
          <p:cNvPicPr preferRelativeResize="0"/>
          <p:nvPr/>
        </p:nvPicPr>
        <p:blipFill rotWithShape="1">
          <a:blip r:embed="rId7">
            <a:alphaModFix amt="50000"/>
          </a:blip>
          <a:srcRect b="6324" l="13900" r="13552" t="5477"/>
          <a:stretch/>
        </p:blipFill>
        <p:spPr>
          <a:xfrm>
            <a:off x="5289176" y="1234500"/>
            <a:ext cx="2831271" cy="253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B0D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1"/>
          <p:cNvSpPr txBox="1"/>
          <p:nvPr/>
        </p:nvSpPr>
        <p:spPr>
          <a:xfrm>
            <a:off x="431800" y="279400"/>
            <a:ext cx="73659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rgbClr val="F2F2F2"/>
                </a:solidFill>
              </a:rPr>
              <a:t>Más Conclusiones</a:t>
            </a:r>
            <a:endParaRPr b="1" sz="2200">
              <a:solidFill>
                <a:srgbClr val="F2F2F2"/>
              </a:solidFill>
            </a:endParaRPr>
          </a:p>
        </p:txBody>
      </p:sp>
      <p:sp>
        <p:nvSpPr>
          <p:cNvPr id="241" name="Google Shape;241;p21"/>
          <p:cNvSpPr/>
          <p:nvPr/>
        </p:nvSpPr>
        <p:spPr>
          <a:xfrm>
            <a:off x="431800" y="774700"/>
            <a:ext cx="7112100" cy="38100"/>
          </a:xfrm>
          <a:prstGeom prst="rect">
            <a:avLst/>
          </a:prstGeom>
          <a:solidFill>
            <a:srgbClr val="B3122D"/>
          </a:solidFill>
          <a:ln cap="flat" cmpd="sng" w="12700">
            <a:solidFill>
              <a:srgbClr val="B312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1"/>
          <p:cNvSpPr txBox="1"/>
          <p:nvPr/>
        </p:nvSpPr>
        <p:spPr>
          <a:xfrm>
            <a:off x="431800" y="4724400"/>
            <a:ext cx="22860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B8B8B8"/>
                </a:solidFill>
              </a:rPr>
              <a:t>HeartBeat · GX</a:t>
            </a:r>
            <a:endParaRPr sz="800">
              <a:solidFill>
                <a:srgbClr val="B8B8B8"/>
              </a:solidFill>
            </a:endParaRPr>
          </a:p>
        </p:txBody>
      </p:sp>
      <p:sp>
        <p:nvSpPr>
          <p:cNvPr id="243" name="Google Shape;243;p21"/>
          <p:cNvSpPr txBox="1"/>
          <p:nvPr/>
        </p:nvSpPr>
        <p:spPr>
          <a:xfrm>
            <a:off x="8318500" y="4673600"/>
            <a:ext cx="406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B3122D"/>
                </a:solidFill>
              </a:rPr>
              <a:t>09</a:t>
            </a:r>
            <a:endParaRPr b="1" sz="1100">
              <a:solidFill>
                <a:srgbClr val="B3122D"/>
              </a:solidFill>
            </a:endParaRPr>
          </a:p>
        </p:txBody>
      </p:sp>
      <p:sp>
        <p:nvSpPr>
          <p:cNvPr id="244" name="Google Shape;244;p21"/>
          <p:cNvSpPr/>
          <p:nvPr/>
        </p:nvSpPr>
        <p:spPr>
          <a:xfrm>
            <a:off x="889000" y="1371600"/>
            <a:ext cx="7365900" cy="685800"/>
          </a:xfrm>
          <a:prstGeom prst="rect">
            <a:avLst/>
          </a:prstGeom>
          <a:solidFill>
            <a:srgbClr val="17171A"/>
          </a:solidFill>
          <a:ln cap="flat" cmpd="sng" w="12700">
            <a:solidFill>
              <a:srgbClr val="3A3A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1"/>
          <p:cNvSpPr txBox="1"/>
          <p:nvPr/>
        </p:nvSpPr>
        <p:spPr>
          <a:xfrm>
            <a:off x="1041400" y="1498600"/>
            <a:ext cx="203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B3122D"/>
                </a:solidFill>
              </a:rPr>
              <a:t>•</a:t>
            </a:r>
            <a:endParaRPr b="1">
              <a:solidFill>
                <a:srgbClr val="B3122D"/>
              </a:solidFill>
            </a:endParaRPr>
          </a:p>
        </p:txBody>
      </p:sp>
      <p:sp>
        <p:nvSpPr>
          <p:cNvPr id="246" name="Google Shape;246;p21"/>
          <p:cNvSpPr txBox="1"/>
          <p:nvPr/>
        </p:nvSpPr>
        <p:spPr>
          <a:xfrm>
            <a:off x="1320800" y="1485900"/>
            <a:ext cx="67818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F2F2F2"/>
                </a:solidFill>
              </a:rPr>
              <a:t>a</a:t>
            </a:r>
            <a:endParaRPr sz="1200">
              <a:solidFill>
                <a:srgbClr val="F2F2F2"/>
              </a:solidFill>
            </a:endParaRPr>
          </a:p>
        </p:txBody>
      </p:sp>
      <p:sp>
        <p:nvSpPr>
          <p:cNvPr id="247" name="Google Shape;247;p21"/>
          <p:cNvSpPr/>
          <p:nvPr/>
        </p:nvSpPr>
        <p:spPr>
          <a:xfrm>
            <a:off x="889000" y="2362200"/>
            <a:ext cx="7365900" cy="685800"/>
          </a:xfrm>
          <a:prstGeom prst="rect">
            <a:avLst/>
          </a:prstGeom>
          <a:solidFill>
            <a:srgbClr val="17171A"/>
          </a:solidFill>
          <a:ln cap="flat" cmpd="sng" w="12700">
            <a:solidFill>
              <a:srgbClr val="3A3A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1"/>
          <p:cNvSpPr txBox="1"/>
          <p:nvPr/>
        </p:nvSpPr>
        <p:spPr>
          <a:xfrm>
            <a:off x="1041400" y="2489200"/>
            <a:ext cx="203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B3122D"/>
                </a:solidFill>
              </a:rPr>
              <a:t>•</a:t>
            </a:r>
            <a:endParaRPr b="1">
              <a:solidFill>
                <a:srgbClr val="B3122D"/>
              </a:solidFill>
            </a:endParaRPr>
          </a:p>
        </p:txBody>
      </p:sp>
      <p:sp>
        <p:nvSpPr>
          <p:cNvPr id="249" name="Google Shape;249;p21"/>
          <p:cNvSpPr txBox="1"/>
          <p:nvPr/>
        </p:nvSpPr>
        <p:spPr>
          <a:xfrm>
            <a:off x="1320800" y="2476500"/>
            <a:ext cx="67818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F2F2F2"/>
                </a:solidFill>
              </a:rPr>
              <a:t>a</a:t>
            </a:r>
            <a:endParaRPr sz="1200">
              <a:solidFill>
                <a:srgbClr val="F2F2F2"/>
              </a:solidFill>
            </a:endParaRPr>
          </a:p>
        </p:txBody>
      </p:sp>
      <p:sp>
        <p:nvSpPr>
          <p:cNvPr id="250" name="Google Shape;250;p21"/>
          <p:cNvSpPr/>
          <p:nvPr/>
        </p:nvSpPr>
        <p:spPr>
          <a:xfrm>
            <a:off x="889000" y="3352800"/>
            <a:ext cx="7365900" cy="685800"/>
          </a:xfrm>
          <a:prstGeom prst="rect">
            <a:avLst/>
          </a:prstGeom>
          <a:solidFill>
            <a:srgbClr val="17171A"/>
          </a:solidFill>
          <a:ln cap="flat" cmpd="sng" w="12700">
            <a:solidFill>
              <a:srgbClr val="3A3A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1"/>
          <p:cNvSpPr txBox="1"/>
          <p:nvPr/>
        </p:nvSpPr>
        <p:spPr>
          <a:xfrm>
            <a:off x="1041400" y="3479800"/>
            <a:ext cx="203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B3122D"/>
                </a:solidFill>
              </a:rPr>
              <a:t>•</a:t>
            </a:r>
            <a:endParaRPr b="1">
              <a:solidFill>
                <a:srgbClr val="B3122D"/>
              </a:solidFill>
            </a:endParaRPr>
          </a:p>
        </p:txBody>
      </p:sp>
      <p:sp>
        <p:nvSpPr>
          <p:cNvPr id="252" name="Google Shape;252;p21"/>
          <p:cNvSpPr txBox="1"/>
          <p:nvPr/>
        </p:nvSpPr>
        <p:spPr>
          <a:xfrm>
            <a:off x="1320800" y="3467100"/>
            <a:ext cx="67818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F2F2F2"/>
                </a:solidFill>
              </a:rPr>
              <a:t>a</a:t>
            </a:r>
            <a:endParaRPr sz="1200">
              <a:solidFill>
                <a:srgbClr val="F2F2F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