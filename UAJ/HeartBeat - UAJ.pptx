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4.xml.rels" ContentType="application/vnd.openxmlformats-package.relationships+xml"/>
  <Override PartName="/ppt/_rels/presentation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10.png" ContentType="image/png"/>
  <Override PartName="/ppt/media/image5.png" ContentType="image/png"/>
  <Override PartName="/ppt/media/image11.png" ContentType="image/png"/>
  <Override PartName="/ppt/media/image6.png" ContentType="image/png"/>
  <Override PartName="/ppt/media/image7.png" ContentType="image/png"/>
  <Override PartName="/ppt/media/image12.png" ContentType="image/png"/>
  <Override PartName="/ppt/media/image8.png" ContentType="image/png"/>
  <Override PartName="/ppt/media/image13.png" ContentType="image/png"/>
  <Override PartName="/ppt/media/image9.png" ContentType="image/png"/>
  <Override PartName="/ppt/media/image14.png" ContentType="image/png"/>
  <Override PartName="/ppt/media/image15.png" ContentType="image/png"/>
  <Override PartName="/ppt/media/image16.png" ContentType="image/png"/>
  <Override PartName="/ppt/media/image17.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_rels/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</p:sld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</p:sldIdLst>
  <p:sldSz cx="9144000" cy="51435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3A397D3B-2CF1-4182-85D9-BDA5FF3A949D}" type="slidenum">
              <a:t>&lt;#&gt;</a:t>
            </a:fld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s-E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CD25CC58-6911-457B-9296-CDCDEAA42984}" type="slidenum">
              <a:t>&lt;#&gt;</a:t>
            </a:fld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A663A681-BDAD-4C10-9594-33A3056559BB}" type="slidenum">
              <a:t>&lt;#&gt;</a:t>
            </a:fld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B7659423-6803-43B6-8D28-F669A5B571DF}" type="slidenum">
              <a:t>&lt;#&gt;</a:t>
            </a:fld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C8FC0C35-CE55-4B59-AEDE-5F03021C79C5}" type="slidenum">
              <a:t>&lt;#&gt;</a:t>
            </a:fld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subTitle"/>
          </p:nvPr>
        </p:nvSpPr>
        <p:spPr>
          <a:xfrm>
            <a:off x="457200" y="205200"/>
            <a:ext cx="8229240" cy="3981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s-E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97196789-2305-48B7-8D5D-99A5804BDAD3}" type="slidenum">
              <a:t>&lt;#&gt;</a:t>
            </a:fld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75E8173B-AB23-49D8-A21E-EA7322558AA6}" type="slidenum">
              <a:t>&lt;#&gt;</a:t>
            </a:fld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71C14422-0E45-4B30-A6EB-6BC90DD2C482}" type="slidenum">
              <a:t>&lt;#&gt;</a:t>
            </a:fld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8118F7BA-733A-447B-AF1E-9971DD6069A2}" type="slidenum">
              <a:t>&lt;#&gt;</a:t>
            </a:fld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79DF6097-FDAC-4A96-9F89-AB079FFDB66E}" type="slidenum">
              <a:t>&lt;#&gt;</a:t>
            </a:fld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5BC5334E-2880-40F0-B786-F251AB9B1062}" type="slidenum">
              <a:t>&lt;#&gt;</a:t>
            </a:fld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6"/>
          <p:cNvSpPr>
            <a:spLocks noGrp="1"/>
          </p:cNvSpPr>
          <p:nvPr>
            <p:ph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7"/>
          <p:cNvSpPr>
            <a:spLocks noGrp="1"/>
          </p:cNvSpPr>
          <p:nvPr>
            <p:ph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4E7F3231-5EBD-428A-BA1D-A278085CFC5F}" type="slidenum">
              <a:t>&lt;#&gt;</a:t>
            </a:fld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D660C68-C4AF-4888-881D-2416DA24B2A1}" type="slidenum">
              <a:t>&lt;#&gt;</a:t>
            </a:fld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s-E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97BE913-18C5-475F-B428-F52315F8A12C}" type="slidenum">
              <a:t>&lt;#&gt;</a:t>
            </a:fld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C0C2468-2232-4B82-A5E0-F4330E269DFF}" type="slidenum">
              <a:t>&lt;#&gt;</a:t>
            </a:fld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3A8EC73-48D9-4A28-9ADA-1C0EFF137635}" type="slidenum">
              <a:t>&lt;#&gt;</a:t>
            </a:fld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CBAA42F-0E98-43B8-B252-F2DC55E8D7A1}" type="slidenum">
              <a:t>&lt;#&gt;</a:t>
            </a:fld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subTitle"/>
          </p:nvPr>
        </p:nvSpPr>
        <p:spPr>
          <a:xfrm>
            <a:off x="457200" y="205200"/>
            <a:ext cx="8229240" cy="3981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s-E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E026B43-839C-484E-BCE6-69795A646271}" type="slidenum">
              <a:t>&lt;#&gt;</a:t>
            </a:fld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FFC6444-5342-439E-9315-C1A7B3945BA5}" type="slidenum">
              <a:t>&lt;#&gt;</a:t>
            </a:fld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0E08373-B20E-4E15-A26E-9EBE2FF4446C}" type="slidenum">
              <a:t>&lt;#&gt;</a:t>
            </a:fld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7C9EBA8-8FCC-4C63-BFDA-697D9ACC2E00}" type="slidenum">
              <a:t>&lt;#&gt;</a:t>
            </a:fld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3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0DA3D1F-5561-405B-9DDA-1C9D2A238C48}" type="slidenum">
              <a:t>&lt;#&gt;</a:t>
            </a:fld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5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FE852E1-C915-4F4A-A68E-9DFC8FDDCFBB}" type="slidenum">
              <a:t>&lt;#&gt;</a:t>
            </a:fld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3"/>
          <p:cNvSpPr>
            <a:spLocks noGrp="1"/>
          </p:cNvSpPr>
          <p:nvPr>
            <p:ph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PlaceHolder 4"/>
          <p:cNvSpPr>
            <a:spLocks noGrp="1"/>
          </p:cNvSpPr>
          <p:nvPr>
            <p:ph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5"/>
          <p:cNvSpPr>
            <a:spLocks noGrp="1"/>
          </p:cNvSpPr>
          <p:nvPr>
            <p:ph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6"/>
          <p:cNvSpPr>
            <a:spLocks noGrp="1"/>
          </p:cNvSpPr>
          <p:nvPr>
            <p:ph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7"/>
          <p:cNvSpPr>
            <a:spLocks noGrp="1"/>
          </p:cNvSpPr>
          <p:nvPr>
            <p:ph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773DF25-7B2B-453A-9628-B8A31675DC7A}" type="slidenum">
              <a:t>&lt;#&gt;</a:t>
            </a:fld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slideLayout" Target="../slideLayouts/slideLayout2.xml"/><Relationship Id="rId5" Type="http://schemas.openxmlformats.org/officeDocument/2006/relationships/slideLayout" Target="../slideLayouts/slideLayout3.xml"/><Relationship Id="rId6" Type="http://schemas.openxmlformats.org/officeDocument/2006/relationships/slideLayout" Target="../slideLayouts/slideLayout4.xml"/><Relationship Id="rId7" Type="http://schemas.openxmlformats.org/officeDocument/2006/relationships/slideLayout" Target="../slideLayouts/slideLayout5.xml"/><Relationship Id="rId8" Type="http://schemas.openxmlformats.org/officeDocument/2006/relationships/slideLayout" Target="../slideLayouts/slideLayout6.xml"/><Relationship Id="rId9" Type="http://schemas.openxmlformats.org/officeDocument/2006/relationships/slideLayout" Target="../slideLayouts/slideLayout7.xml"/><Relationship Id="rId10" Type="http://schemas.openxmlformats.org/officeDocument/2006/relationships/slideLayout" Target="../slideLayouts/slideLayout8.xml"/><Relationship Id="rId11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1.xml"/><Relationship Id="rId14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311760" y="744480"/>
            <a:ext cx="8520120" cy="205236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rmAutofit/>
          </a:bodyPr>
          <a:p>
            <a:pPr indent="0">
              <a:buNone/>
            </a:pPr>
            <a:r>
              <a:rPr b="0" lang="es-ES" sz="5200" spc="-1" strike="noStrike">
                <a:solidFill>
                  <a:srgbClr val="000000"/>
                </a:solidFill>
                <a:latin typeface="Arial"/>
              </a:rPr>
              <a:t>Pulse para editar el formato del texto de título</a:t>
            </a:r>
            <a:endParaRPr b="0" lang="es-ES" sz="5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1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s" sz="10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B0405E0-7798-4419-9D91-F05A5D797E79}" type="slidenum">
              <a:rPr b="0" lang="es" sz="1000" spc="-1" strike="noStrike">
                <a:solidFill>
                  <a:schemeClr val="dk2"/>
                </a:solidFill>
                <a:latin typeface="Arial"/>
                <a:ea typeface="Arial"/>
              </a:rPr>
              <a:t>&lt;número&gt;</a:t>
            </a:fld>
            <a:endParaRPr b="0" lang="es-E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2" name="Google Shape;13;p2" descr=""/>
          <p:cNvPicPr/>
          <p:nvPr/>
        </p:nvPicPr>
        <p:blipFill>
          <a:blip r:embed="rId2"/>
          <a:stretch/>
        </p:blipFill>
        <p:spPr>
          <a:xfrm>
            <a:off x="0" y="0"/>
            <a:ext cx="9000720" cy="5142960"/>
          </a:xfrm>
          <a:prstGeom prst="rect">
            <a:avLst/>
          </a:prstGeom>
          <a:ln w="0">
            <a:noFill/>
          </a:ln>
        </p:spPr>
      </p:pic>
      <p:sp>
        <p:nvSpPr>
          <p:cNvPr id="3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1400" spc="-1" strike="noStrike">
                <a:solidFill>
                  <a:srgbClr val="000000"/>
                </a:solidFill>
                <a:latin typeface="Arial"/>
              </a:rPr>
              <a:t>Pulse para editar el formato de texto del esquema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ES" sz="1400" spc="-1" strike="noStrike">
                <a:solidFill>
                  <a:srgbClr val="000000"/>
                </a:solidFill>
                <a:latin typeface="Arial"/>
              </a:rPr>
              <a:t>Segundo nivel del esquema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1400" spc="-1" strike="noStrike">
                <a:solidFill>
                  <a:srgbClr val="000000"/>
                </a:solidFill>
                <a:latin typeface="Arial"/>
              </a:rPr>
              <a:t>Tercer nivel del esquema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ES" sz="1400" spc="-1" strike="noStrike">
                <a:solidFill>
                  <a:srgbClr val="000000"/>
                </a:solidFill>
                <a:latin typeface="Arial"/>
              </a:rPr>
              <a:t>Cuarto nivel del esquema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2000" spc="-1" strike="noStrike">
                <a:solidFill>
                  <a:srgbClr val="000000"/>
                </a:solidFill>
                <a:latin typeface="Arial"/>
              </a:rPr>
              <a:t>Quinto nivel del esquema</a:t>
            </a:r>
            <a:endParaRPr b="0" lang="es-E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2000" spc="-1" strike="noStrike">
                <a:solidFill>
                  <a:srgbClr val="000000"/>
                </a:solidFill>
                <a:latin typeface="Arial"/>
              </a:rPr>
              <a:t>Sexto nivel del esquema</a:t>
            </a:r>
            <a:endParaRPr b="0" lang="es-E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2000" spc="-1" strike="noStrike">
                <a:solidFill>
                  <a:srgbClr val="000000"/>
                </a:solidFill>
                <a:latin typeface="Arial"/>
              </a:rPr>
              <a:t>Séptimo nivel del esquema</a:t>
            </a:r>
            <a:endParaRPr b="0" lang="es-E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sldNum" idx="2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s" sz="10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FC626C6-C9BC-4C9F-A7F0-9BF43F8EB7EF}" type="slidenum">
              <a:rPr b="0" lang="es" sz="1000" spc="-1" strike="noStrike">
                <a:solidFill>
                  <a:schemeClr val="dk2"/>
                </a:solidFill>
                <a:latin typeface="Arial"/>
                <a:ea typeface="Arial"/>
              </a:rPr>
              <a:t>&lt;número&gt;</a:t>
            </a:fld>
            <a:endParaRPr b="0" lang="es-E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s-ES" sz="1400" spc="-1" strike="noStrike">
                <a:solidFill>
                  <a:srgbClr val="000000"/>
                </a:solidFill>
                <a:latin typeface="Arial"/>
              </a:rPr>
              <a:t>Pulse para editar el formato del texto de título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1400" spc="-1" strike="noStrike">
                <a:solidFill>
                  <a:srgbClr val="000000"/>
                </a:solidFill>
                <a:latin typeface="Arial"/>
              </a:rPr>
              <a:t>Pulse para editar el formato de texto del esquema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ES" sz="1400" spc="-1" strike="noStrike">
                <a:solidFill>
                  <a:srgbClr val="000000"/>
                </a:solidFill>
                <a:latin typeface="Arial"/>
              </a:rPr>
              <a:t>Segundo nivel del esquema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1400" spc="-1" strike="noStrike">
                <a:solidFill>
                  <a:srgbClr val="000000"/>
                </a:solidFill>
                <a:latin typeface="Arial"/>
              </a:rPr>
              <a:t>Tercer nivel del esquema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ES" sz="1400" spc="-1" strike="noStrike">
                <a:solidFill>
                  <a:srgbClr val="000000"/>
                </a:solidFill>
                <a:latin typeface="Arial"/>
              </a:rPr>
              <a:t>Cuarto nivel del esquema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2000" spc="-1" strike="noStrike">
                <a:solidFill>
                  <a:srgbClr val="000000"/>
                </a:solidFill>
                <a:latin typeface="Arial"/>
              </a:rPr>
              <a:t>Quinto nivel del esquema</a:t>
            </a:r>
            <a:endParaRPr b="0" lang="es-E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2000" spc="-1" strike="noStrike">
                <a:solidFill>
                  <a:srgbClr val="000000"/>
                </a:solidFill>
                <a:latin typeface="Arial"/>
              </a:rPr>
              <a:t>Sexto nivel del esquema</a:t>
            </a:r>
            <a:endParaRPr b="0" lang="es-E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2000" spc="-1" strike="noStrike">
                <a:solidFill>
                  <a:srgbClr val="000000"/>
                </a:solidFill>
                <a:latin typeface="Arial"/>
              </a:rPr>
              <a:t>Séptimo nivel del esquema</a:t>
            </a:r>
            <a:endParaRPr b="0" lang="es-E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1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8.png"/><Relationship Id="rId3" Type="http://schemas.openxmlformats.org/officeDocument/2006/relationships/slideLayout" Target="../slideLayouts/slideLayout13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3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slideLayout" Target="../slideLayouts/slideLayout1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slideLayout" Target="../slideLayouts/slideLayout13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0b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55;p13"/>
          <p:cNvSpPr/>
          <p:nvPr/>
        </p:nvSpPr>
        <p:spPr>
          <a:xfrm>
            <a:off x="0" y="0"/>
            <a:ext cx="228240" cy="5143320"/>
          </a:xfrm>
          <a:prstGeom prst="rect">
            <a:avLst/>
          </a:prstGeom>
          <a:solidFill>
            <a:srgbClr val="b3122d"/>
          </a:solidFill>
          <a:ln w="12700">
            <a:solidFill>
              <a:srgbClr val="b3122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Google Shape;56;p13"/>
          <p:cNvSpPr/>
          <p:nvPr/>
        </p:nvSpPr>
        <p:spPr>
          <a:xfrm>
            <a:off x="660240" y="1066680"/>
            <a:ext cx="7822800" cy="25200"/>
          </a:xfrm>
          <a:prstGeom prst="rect">
            <a:avLst/>
          </a:prstGeom>
          <a:solidFill>
            <a:srgbClr val="b3122d"/>
          </a:solidFill>
          <a:ln w="12700">
            <a:solidFill>
              <a:srgbClr val="b3122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12600" bIns="126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Google Shape;57;p13"/>
          <p:cNvSpPr/>
          <p:nvPr/>
        </p:nvSpPr>
        <p:spPr>
          <a:xfrm>
            <a:off x="660240" y="1460520"/>
            <a:ext cx="7746480" cy="104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s" sz="2800" spc="-1" strike="noStrike">
                <a:solidFill>
                  <a:srgbClr val="f2f2f2"/>
                </a:solidFill>
                <a:latin typeface="Arial"/>
                <a:ea typeface="Arial"/>
              </a:rPr>
              <a:t>HeartBeat: Análisis de Telemetría y Experiencia (GX)</a:t>
            </a:r>
            <a:endParaRPr b="0" lang="es-E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" name="Google Shape;58;p13"/>
          <p:cNvSpPr/>
          <p:nvPr/>
        </p:nvSpPr>
        <p:spPr>
          <a:xfrm>
            <a:off x="660240" y="2641680"/>
            <a:ext cx="7746480" cy="35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" sz="1600" spc="-1" strike="noStrike">
                <a:solidFill>
                  <a:srgbClr val="b8b8b8"/>
                </a:solidFill>
                <a:latin typeface="Arial"/>
                <a:ea typeface="Arial"/>
              </a:rPr>
              <a:t>Triangulación de métricas de juego y GUR</a:t>
            </a:r>
            <a:endParaRPr b="0" lang="es-E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" name="Google Shape;59;p13"/>
          <p:cNvSpPr/>
          <p:nvPr/>
        </p:nvSpPr>
        <p:spPr>
          <a:xfrm>
            <a:off x="660240" y="3365640"/>
            <a:ext cx="1396800" cy="380520"/>
          </a:xfrm>
          <a:prstGeom prst="rect">
            <a:avLst/>
          </a:prstGeom>
          <a:solidFill>
            <a:srgbClr val="17171a"/>
          </a:solidFill>
          <a:ln w="12700">
            <a:solidFill>
              <a:srgbClr val="b3122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s-E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" name="Google Shape;60;p13"/>
          <p:cNvSpPr/>
          <p:nvPr/>
        </p:nvSpPr>
        <p:spPr>
          <a:xfrm>
            <a:off x="863640" y="3380040"/>
            <a:ext cx="1142640" cy="35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s" sz="1200" spc="-1" strike="noStrike">
                <a:solidFill>
                  <a:srgbClr val="f2f2f2"/>
                </a:solidFill>
                <a:latin typeface="Arial"/>
                <a:ea typeface="Arial"/>
              </a:rPr>
              <a:t>Grupo 08</a:t>
            </a:r>
            <a:endParaRPr b="0" lang="es-E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" name="Google Shape;61;p13"/>
          <p:cNvSpPr/>
          <p:nvPr/>
        </p:nvSpPr>
        <p:spPr>
          <a:xfrm>
            <a:off x="660240" y="4381560"/>
            <a:ext cx="53337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" sz="1000" spc="-1" strike="noStrike">
                <a:solidFill>
                  <a:srgbClr val="b8b8b8"/>
                </a:solidFill>
                <a:latin typeface="Arial"/>
                <a:ea typeface="Arial"/>
              </a:rPr>
              <a:t>Jose E. Robles Roca  y Álvaro Piña Sánchez-Sierra</a:t>
            </a:r>
            <a:endParaRPr b="0" lang="es-E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0b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" name="Google Shape;66;p14" descr=""/>
          <p:cNvPicPr/>
          <p:nvPr/>
        </p:nvPicPr>
        <p:blipFill>
          <a:blip r:embed="rId1"/>
          <a:stretch/>
        </p:blipFill>
        <p:spPr>
          <a:xfrm>
            <a:off x="5149440" y="-729360"/>
            <a:ext cx="5143320" cy="5143320"/>
          </a:xfrm>
          <a:prstGeom prst="rect">
            <a:avLst/>
          </a:prstGeom>
          <a:ln w="0">
            <a:noFill/>
          </a:ln>
        </p:spPr>
      </p:pic>
      <p:sp>
        <p:nvSpPr>
          <p:cNvPr id="87" name="Google Shape;67;p14"/>
          <p:cNvSpPr/>
          <p:nvPr/>
        </p:nvSpPr>
        <p:spPr>
          <a:xfrm>
            <a:off x="431640" y="279360"/>
            <a:ext cx="736560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s" sz="2200" spc="-1" strike="noStrike">
                <a:solidFill>
                  <a:srgbClr val="f2f2f2"/>
                </a:solidFill>
                <a:latin typeface="Arial"/>
                <a:ea typeface="Arial"/>
              </a:rPr>
              <a:t>Metodología de Evaluación</a:t>
            </a:r>
            <a:endParaRPr b="0" lang="es-E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Google Shape;68;p14"/>
          <p:cNvSpPr/>
          <p:nvPr/>
        </p:nvSpPr>
        <p:spPr>
          <a:xfrm>
            <a:off x="431640" y="774720"/>
            <a:ext cx="7111800" cy="37800"/>
          </a:xfrm>
          <a:prstGeom prst="rect">
            <a:avLst/>
          </a:prstGeom>
          <a:solidFill>
            <a:srgbClr val="b3122d"/>
          </a:solidFill>
          <a:ln w="12700">
            <a:solidFill>
              <a:srgbClr val="b3122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19080" bIns="1908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Google Shape;69;p14"/>
          <p:cNvSpPr/>
          <p:nvPr/>
        </p:nvSpPr>
        <p:spPr>
          <a:xfrm>
            <a:off x="431640" y="4724280"/>
            <a:ext cx="2285640" cy="20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" sz="800" spc="-1" strike="noStrike">
                <a:solidFill>
                  <a:srgbClr val="b8b8b8"/>
                </a:solidFill>
                <a:latin typeface="Arial"/>
                <a:ea typeface="Arial"/>
              </a:rPr>
              <a:t>HeartBeat · GX</a:t>
            </a:r>
            <a:endParaRPr b="0" lang="es-E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Google Shape;70;p14"/>
          <p:cNvSpPr/>
          <p:nvPr/>
        </p:nvSpPr>
        <p:spPr>
          <a:xfrm>
            <a:off x="8318520" y="4673520"/>
            <a:ext cx="4060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s" sz="1100" spc="-1" strike="noStrike">
                <a:solidFill>
                  <a:srgbClr val="b3122d"/>
                </a:solidFill>
                <a:latin typeface="Arial"/>
                <a:ea typeface="Arial"/>
              </a:rPr>
              <a:t>02</a:t>
            </a:r>
            <a:endParaRPr b="0" lang="es-E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" name="Google Shape;71;p14"/>
          <p:cNvSpPr/>
          <p:nvPr/>
        </p:nvSpPr>
        <p:spPr>
          <a:xfrm>
            <a:off x="482760" y="1168560"/>
            <a:ext cx="1396800" cy="279000"/>
          </a:xfrm>
          <a:prstGeom prst="rect">
            <a:avLst/>
          </a:prstGeom>
          <a:solidFill>
            <a:srgbClr val="7a0b1d"/>
          </a:solidFill>
          <a:ln w="12700">
            <a:solidFill>
              <a:srgbClr val="7a0b1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s-E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Google Shape;72;p14"/>
          <p:cNvSpPr/>
          <p:nvPr/>
        </p:nvSpPr>
        <p:spPr>
          <a:xfrm>
            <a:off x="609480" y="1155600"/>
            <a:ext cx="11426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s" sz="800" spc="-1" strike="noStrike">
                <a:solidFill>
                  <a:srgbClr val="f2f2f2"/>
                </a:solidFill>
                <a:latin typeface="Arial"/>
                <a:ea typeface="Arial"/>
              </a:rPr>
              <a:t>MARCO</a:t>
            </a:r>
            <a:endParaRPr b="0" lang="es-E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" name="Google Shape;73;p14"/>
          <p:cNvSpPr/>
          <p:nvPr/>
        </p:nvSpPr>
        <p:spPr>
          <a:xfrm>
            <a:off x="482760" y="1562040"/>
            <a:ext cx="8178480" cy="736200"/>
          </a:xfrm>
          <a:prstGeom prst="rect">
            <a:avLst/>
          </a:prstGeom>
          <a:solidFill>
            <a:srgbClr val="17171a"/>
          </a:solidFill>
          <a:ln w="12700">
            <a:solidFill>
              <a:srgbClr val="3a3a4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s-E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" name="Google Shape;74;p14"/>
          <p:cNvSpPr/>
          <p:nvPr/>
        </p:nvSpPr>
        <p:spPr>
          <a:xfrm>
            <a:off x="482760" y="1562040"/>
            <a:ext cx="63360" cy="736200"/>
          </a:xfrm>
          <a:prstGeom prst="rect">
            <a:avLst/>
          </a:prstGeom>
          <a:solidFill>
            <a:srgbClr val="b3122d"/>
          </a:solidFill>
          <a:ln w="12700">
            <a:solidFill>
              <a:srgbClr val="b3122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Google Shape;75;p14"/>
          <p:cNvSpPr/>
          <p:nvPr/>
        </p:nvSpPr>
        <p:spPr>
          <a:xfrm>
            <a:off x="685800" y="1562040"/>
            <a:ext cx="7822800" cy="35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s" sz="1000" spc="-1" strike="noStrike">
                <a:solidFill>
                  <a:srgbClr val="b3122d"/>
                </a:solidFill>
                <a:latin typeface="Arial"/>
                <a:ea typeface="Arial"/>
              </a:rPr>
              <a:t>Objetivo</a:t>
            </a:r>
            <a:endParaRPr b="0" lang="es-E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" name="Google Shape;76;p14"/>
          <p:cNvSpPr/>
          <p:nvPr/>
        </p:nvSpPr>
        <p:spPr>
          <a:xfrm>
            <a:off x="685800" y="1828800"/>
            <a:ext cx="7822800" cy="35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" sz="1200" spc="-1" strike="noStrike">
                <a:solidFill>
                  <a:srgbClr val="f2f2f2"/>
                </a:solidFill>
                <a:latin typeface="Arial"/>
                <a:ea typeface="Arial"/>
              </a:rPr>
              <a:t>Validar el diseño con una serie de hipótesis usando el marco MDA.</a:t>
            </a:r>
            <a:endParaRPr b="0" lang="es-E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" name="Google Shape;77;p14"/>
          <p:cNvSpPr/>
          <p:nvPr/>
        </p:nvSpPr>
        <p:spPr>
          <a:xfrm>
            <a:off x="482760" y="2603520"/>
            <a:ext cx="1396800" cy="279000"/>
          </a:xfrm>
          <a:prstGeom prst="rect">
            <a:avLst/>
          </a:prstGeom>
          <a:solidFill>
            <a:srgbClr val="7a0b1d"/>
          </a:solidFill>
          <a:ln w="12700">
            <a:solidFill>
              <a:srgbClr val="7a0b1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s-E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" name="Google Shape;78;p14"/>
          <p:cNvSpPr/>
          <p:nvPr/>
        </p:nvSpPr>
        <p:spPr>
          <a:xfrm>
            <a:off x="609480" y="2590920"/>
            <a:ext cx="11426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s" sz="800" spc="-1" strike="noStrike">
                <a:solidFill>
                  <a:srgbClr val="f2f2f2"/>
                </a:solidFill>
                <a:latin typeface="Arial"/>
                <a:ea typeface="Arial"/>
              </a:rPr>
              <a:t>DATOS</a:t>
            </a:r>
            <a:endParaRPr b="0" lang="es-E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" name="Google Shape;79;p14"/>
          <p:cNvSpPr/>
          <p:nvPr/>
        </p:nvSpPr>
        <p:spPr>
          <a:xfrm>
            <a:off x="482760" y="2997360"/>
            <a:ext cx="3835080" cy="990360"/>
          </a:xfrm>
          <a:prstGeom prst="rect">
            <a:avLst/>
          </a:prstGeom>
          <a:solidFill>
            <a:srgbClr val="17171a"/>
          </a:solidFill>
          <a:ln w="12700">
            <a:solidFill>
              <a:srgbClr val="3a3a4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s-E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" name="Google Shape;80;p14"/>
          <p:cNvSpPr/>
          <p:nvPr/>
        </p:nvSpPr>
        <p:spPr>
          <a:xfrm>
            <a:off x="482760" y="2997360"/>
            <a:ext cx="63360" cy="990360"/>
          </a:xfrm>
          <a:prstGeom prst="rect">
            <a:avLst/>
          </a:prstGeom>
          <a:solidFill>
            <a:srgbClr val="b3122d"/>
          </a:solidFill>
          <a:ln w="12700">
            <a:solidFill>
              <a:srgbClr val="b3122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Google Shape;81;p14"/>
          <p:cNvSpPr/>
          <p:nvPr/>
        </p:nvSpPr>
        <p:spPr>
          <a:xfrm>
            <a:off x="685800" y="2997360"/>
            <a:ext cx="3479400" cy="35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s" sz="1000" spc="-1" strike="noStrike">
                <a:solidFill>
                  <a:srgbClr val="b3122d"/>
                </a:solidFill>
                <a:latin typeface="Arial"/>
                <a:ea typeface="Arial"/>
              </a:rPr>
              <a:t>Cuantitativo</a:t>
            </a:r>
            <a:endParaRPr b="0" lang="es-E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" name="Google Shape;82;p14"/>
          <p:cNvSpPr/>
          <p:nvPr/>
        </p:nvSpPr>
        <p:spPr>
          <a:xfrm>
            <a:off x="685800" y="3263760"/>
            <a:ext cx="3479400" cy="60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" sz="1200" spc="-1" strike="noStrike">
                <a:solidFill>
                  <a:srgbClr val="f2f2f2"/>
                </a:solidFill>
                <a:latin typeface="Arial"/>
                <a:ea typeface="Arial"/>
              </a:rPr>
              <a:t>Telemetría extraída de Unity y analizada con scripts de Python (`analyze_telemetry.py`).</a:t>
            </a:r>
            <a:endParaRPr b="0" lang="es-E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" name="Google Shape;83;p14"/>
          <p:cNvSpPr/>
          <p:nvPr/>
        </p:nvSpPr>
        <p:spPr>
          <a:xfrm>
            <a:off x="4826160" y="2997360"/>
            <a:ext cx="3835080" cy="990360"/>
          </a:xfrm>
          <a:prstGeom prst="rect">
            <a:avLst/>
          </a:prstGeom>
          <a:solidFill>
            <a:srgbClr val="17171a"/>
          </a:solidFill>
          <a:ln w="12700">
            <a:solidFill>
              <a:srgbClr val="3a3a4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s-E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" name="Google Shape;84;p14"/>
          <p:cNvSpPr/>
          <p:nvPr/>
        </p:nvSpPr>
        <p:spPr>
          <a:xfrm>
            <a:off x="4826160" y="2997360"/>
            <a:ext cx="63360" cy="990360"/>
          </a:xfrm>
          <a:prstGeom prst="rect">
            <a:avLst/>
          </a:prstGeom>
          <a:solidFill>
            <a:srgbClr val="b3122d"/>
          </a:solidFill>
          <a:ln w="12700">
            <a:solidFill>
              <a:srgbClr val="b3122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Google Shape;85;p14"/>
          <p:cNvSpPr/>
          <p:nvPr/>
        </p:nvSpPr>
        <p:spPr>
          <a:xfrm>
            <a:off x="5029200" y="2997360"/>
            <a:ext cx="3479400" cy="35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s" sz="1000" spc="-1" strike="noStrike">
                <a:solidFill>
                  <a:srgbClr val="b3122d"/>
                </a:solidFill>
                <a:latin typeface="Arial"/>
                <a:ea typeface="Arial"/>
              </a:rPr>
              <a:t>Cualitativo</a:t>
            </a:r>
            <a:endParaRPr b="0" lang="es-E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" name="Google Shape;86;p14"/>
          <p:cNvSpPr/>
          <p:nvPr/>
        </p:nvSpPr>
        <p:spPr>
          <a:xfrm>
            <a:off x="5029200" y="3263760"/>
            <a:ext cx="3479400" cy="60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" sz="1200" spc="-1" strike="noStrike">
                <a:solidFill>
                  <a:srgbClr val="f2f2f2"/>
                </a:solidFill>
                <a:latin typeface="Arial"/>
                <a:ea typeface="Arial"/>
              </a:rPr>
              <a:t>Entrevistas post-partida y protocolo Think Aloud.</a:t>
            </a:r>
            <a:endParaRPr b="0" lang="es-E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" name="Google Shape;87;p14"/>
          <p:cNvSpPr/>
          <p:nvPr/>
        </p:nvSpPr>
        <p:spPr>
          <a:xfrm>
            <a:off x="4317840" y="3174840"/>
            <a:ext cx="12240" cy="609120"/>
          </a:xfrm>
          <a:prstGeom prst="rect">
            <a:avLst/>
          </a:prstGeom>
          <a:solidFill>
            <a:srgbClr val="b3122d"/>
          </a:solidFill>
          <a:ln w="12700">
            <a:solidFill>
              <a:srgbClr val="b3122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0b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92;p15"/>
          <p:cNvSpPr/>
          <p:nvPr/>
        </p:nvSpPr>
        <p:spPr>
          <a:xfrm>
            <a:off x="431640" y="279360"/>
            <a:ext cx="736560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s" sz="2200" spc="-1" strike="noStrike">
                <a:solidFill>
                  <a:srgbClr val="f2f2f2"/>
                </a:solidFill>
                <a:latin typeface="Arial"/>
                <a:ea typeface="Arial"/>
              </a:rPr>
              <a:t>Arquitectura Técnica</a:t>
            </a:r>
            <a:endParaRPr b="0" lang="es-E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" name="Google Shape;93;p15"/>
          <p:cNvSpPr/>
          <p:nvPr/>
        </p:nvSpPr>
        <p:spPr>
          <a:xfrm>
            <a:off x="431640" y="774720"/>
            <a:ext cx="7111800" cy="37800"/>
          </a:xfrm>
          <a:prstGeom prst="rect">
            <a:avLst/>
          </a:prstGeom>
          <a:solidFill>
            <a:srgbClr val="b3122d"/>
          </a:solidFill>
          <a:ln w="12700">
            <a:solidFill>
              <a:srgbClr val="b3122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19080" bIns="1908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Google Shape;94;p15"/>
          <p:cNvSpPr/>
          <p:nvPr/>
        </p:nvSpPr>
        <p:spPr>
          <a:xfrm>
            <a:off x="431640" y="4724280"/>
            <a:ext cx="2285640" cy="20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" sz="800" spc="-1" strike="noStrike">
                <a:solidFill>
                  <a:srgbClr val="b8b8b8"/>
                </a:solidFill>
                <a:latin typeface="Arial"/>
                <a:ea typeface="Arial"/>
              </a:rPr>
              <a:t>HeartBeat · GX</a:t>
            </a:r>
            <a:endParaRPr b="0" lang="es-E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" name="Google Shape;95;p15"/>
          <p:cNvSpPr/>
          <p:nvPr/>
        </p:nvSpPr>
        <p:spPr>
          <a:xfrm>
            <a:off x="8318520" y="4673520"/>
            <a:ext cx="4060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s" sz="1100" spc="-1" strike="noStrike">
                <a:solidFill>
                  <a:srgbClr val="b3122d"/>
                </a:solidFill>
                <a:latin typeface="Arial"/>
                <a:ea typeface="Arial"/>
              </a:rPr>
              <a:t>03</a:t>
            </a:r>
            <a:endParaRPr b="0" lang="es-E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" name="Google Shape;96;p15"/>
          <p:cNvSpPr/>
          <p:nvPr/>
        </p:nvSpPr>
        <p:spPr>
          <a:xfrm>
            <a:off x="5293440" y="4365720"/>
            <a:ext cx="35557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" sz="900" spc="-1" strike="noStrike">
                <a:solidFill>
                  <a:srgbClr val="b8b8b8"/>
                </a:solidFill>
                <a:latin typeface="Arial"/>
                <a:ea typeface="Arial"/>
              </a:rPr>
              <a:t>[IMAGEN: Captura de los scripts de telemetría de Unity]</a:t>
            </a:r>
            <a:endParaRPr b="0" lang="es-E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" name="Google Shape;97;p15"/>
          <p:cNvSpPr/>
          <p:nvPr/>
        </p:nvSpPr>
        <p:spPr>
          <a:xfrm>
            <a:off x="482760" y="1219320"/>
            <a:ext cx="3746160" cy="812520"/>
          </a:xfrm>
          <a:prstGeom prst="rect">
            <a:avLst/>
          </a:prstGeom>
          <a:solidFill>
            <a:srgbClr val="17171a"/>
          </a:solidFill>
          <a:ln w="12700">
            <a:solidFill>
              <a:srgbClr val="3a3a4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s-E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Google Shape;98;p15"/>
          <p:cNvSpPr/>
          <p:nvPr/>
        </p:nvSpPr>
        <p:spPr>
          <a:xfrm>
            <a:off x="482760" y="1219320"/>
            <a:ext cx="63360" cy="812520"/>
          </a:xfrm>
          <a:prstGeom prst="rect">
            <a:avLst/>
          </a:prstGeom>
          <a:solidFill>
            <a:srgbClr val="b3122d"/>
          </a:solidFill>
          <a:ln w="12700">
            <a:solidFill>
              <a:srgbClr val="b3122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Google Shape;99;p15"/>
          <p:cNvSpPr/>
          <p:nvPr/>
        </p:nvSpPr>
        <p:spPr>
          <a:xfrm>
            <a:off x="685800" y="1219320"/>
            <a:ext cx="3390480" cy="35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s" sz="1000" spc="-1" strike="noStrike">
                <a:solidFill>
                  <a:srgbClr val="b3122d"/>
                </a:solidFill>
                <a:latin typeface="Arial"/>
                <a:ea typeface="Arial"/>
              </a:rPr>
              <a:t>Integración Unity</a:t>
            </a:r>
            <a:endParaRPr b="0" lang="es-E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" name="Google Shape;100;p15"/>
          <p:cNvSpPr/>
          <p:nvPr/>
        </p:nvSpPr>
        <p:spPr>
          <a:xfrm>
            <a:off x="685800" y="1486080"/>
            <a:ext cx="339048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" sz="1200" spc="-1" strike="noStrike">
                <a:solidFill>
                  <a:srgbClr val="f2f2f2"/>
                </a:solidFill>
                <a:latin typeface="Arial"/>
                <a:ea typeface="Arial"/>
              </a:rPr>
              <a:t>Sistema modular basado en eventos (`Traker.cs`, `EventoBase.cs`).</a:t>
            </a:r>
            <a:endParaRPr b="0" lang="es-E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" name="Google Shape;101;p15"/>
          <p:cNvSpPr/>
          <p:nvPr/>
        </p:nvSpPr>
        <p:spPr>
          <a:xfrm>
            <a:off x="482760" y="2260440"/>
            <a:ext cx="3746160" cy="812520"/>
          </a:xfrm>
          <a:prstGeom prst="rect">
            <a:avLst/>
          </a:prstGeom>
          <a:solidFill>
            <a:srgbClr val="17171a"/>
          </a:solidFill>
          <a:ln w="12700">
            <a:solidFill>
              <a:srgbClr val="3a3a4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s-E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Google Shape;102;p15"/>
          <p:cNvSpPr/>
          <p:nvPr/>
        </p:nvSpPr>
        <p:spPr>
          <a:xfrm>
            <a:off x="482760" y="2260440"/>
            <a:ext cx="63360" cy="812520"/>
          </a:xfrm>
          <a:prstGeom prst="rect">
            <a:avLst/>
          </a:prstGeom>
          <a:solidFill>
            <a:srgbClr val="b3122d"/>
          </a:solidFill>
          <a:ln w="12700">
            <a:solidFill>
              <a:srgbClr val="b3122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Google Shape;103;p15"/>
          <p:cNvSpPr/>
          <p:nvPr/>
        </p:nvSpPr>
        <p:spPr>
          <a:xfrm>
            <a:off x="685800" y="2260800"/>
            <a:ext cx="3390480" cy="35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s" sz="1000" spc="-1" strike="noStrike">
                <a:solidFill>
                  <a:srgbClr val="b3122d"/>
                </a:solidFill>
                <a:latin typeface="Arial"/>
                <a:ea typeface="Arial"/>
              </a:rPr>
              <a:t>Persistencia</a:t>
            </a:r>
            <a:endParaRPr b="0" lang="es-E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" name="Google Shape;104;p15"/>
          <p:cNvSpPr/>
          <p:nvPr/>
        </p:nvSpPr>
        <p:spPr>
          <a:xfrm>
            <a:off x="685800" y="2527200"/>
            <a:ext cx="339048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" sz="1200" spc="-1" strike="noStrike">
                <a:solidFill>
                  <a:srgbClr val="f2f2f2"/>
                </a:solidFill>
                <a:latin typeface="Arial"/>
                <a:ea typeface="Arial"/>
              </a:rPr>
              <a:t>Serialización directa a formato JSONL (local/servidor).</a:t>
            </a:r>
            <a:endParaRPr b="0" lang="es-E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" name="Google Shape;105;p15"/>
          <p:cNvSpPr/>
          <p:nvPr/>
        </p:nvSpPr>
        <p:spPr>
          <a:xfrm>
            <a:off x="482760" y="3301920"/>
            <a:ext cx="3746160" cy="990360"/>
          </a:xfrm>
          <a:prstGeom prst="rect">
            <a:avLst/>
          </a:prstGeom>
          <a:solidFill>
            <a:srgbClr val="17171a"/>
          </a:solidFill>
          <a:ln w="12700">
            <a:solidFill>
              <a:srgbClr val="3a3a4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s-E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" name="Google Shape;106;p15"/>
          <p:cNvSpPr/>
          <p:nvPr/>
        </p:nvSpPr>
        <p:spPr>
          <a:xfrm>
            <a:off x="482760" y="3301920"/>
            <a:ext cx="63360" cy="990360"/>
          </a:xfrm>
          <a:prstGeom prst="rect">
            <a:avLst/>
          </a:prstGeom>
          <a:solidFill>
            <a:srgbClr val="b3122d"/>
          </a:solidFill>
          <a:ln w="12700">
            <a:solidFill>
              <a:srgbClr val="b3122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Google Shape;107;p15"/>
          <p:cNvSpPr/>
          <p:nvPr/>
        </p:nvSpPr>
        <p:spPr>
          <a:xfrm>
            <a:off x="685800" y="3302280"/>
            <a:ext cx="3390480" cy="35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s" sz="1000" spc="-1" strike="noStrike">
                <a:solidFill>
                  <a:srgbClr val="b3122d"/>
                </a:solidFill>
                <a:latin typeface="Arial"/>
                <a:ea typeface="Arial"/>
              </a:rPr>
              <a:t>Procesamiento</a:t>
            </a:r>
            <a:endParaRPr b="0" lang="es-E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4" name="Google Shape;108;p15"/>
          <p:cNvSpPr/>
          <p:nvPr/>
        </p:nvSpPr>
        <p:spPr>
          <a:xfrm>
            <a:off x="685800" y="3587760"/>
            <a:ext cx="3390480" cy="59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" sz="1200" spc="-1" strike="noStrike">
                <a:solidFill>
                  <a:srgbClr val="f2f2f2"/>
                </a:solidFill>
                <a:latin typeface="Arial"/>
                <a:ea typeface="Arial"/>
              </a:rPr>
              <a:t>Pipeline en Python ejecutado por lotes (`.bat`) para generar un dashboard HTML interactivo.</a:t>
            </a:r>
            <a:endParaRPr b="0" lang="es-ES" sz="12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25" name="Google Shape;109;p15" descr=""/>
          <p:cNvPicPr/>
          <p:nvPr/>
        </p:nvPicPr>
        <p:blipFill>
          <a:blip r:embed="rId1"/>
          <a:stretch/>
        </p:blipFill>
        <p:spPr>
          <a:xfrm>
            <a:off x="5407920" y="1258200"/>
            <a:ext cx="2759760" cy="30340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0b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14;p16"/>
          <p:cNvSpPr/>
          <p:nvPr/>
        </p:nvSpPr>
        <p:spPr>
          <a:xfrm>
            <a:off x="431640" y="279360"/>
            <a:ext cx="736560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s" sz="2200" spc="-1" strike="noStrike">
                <a:solidFill>
                  <a:srgbClr val="f2f2f2"/>
                </a:solidFill>
                <a:latin typeface="Arial"/>
                <a:ea typeface="Arial"/>
              </a:rPr>
              <a:t>Hipótesis 1 - El pulso bajo presión</a:t>
            </a:r>
            <a:endParaRPr b="0" lang="es-E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" name="Google Shape;115;p16"/>
          <p:cNvSpPr/>
          <p:nvPr/>
        </p:nvSpPr>
        <p:spPr>
          <a:xfrm>
            <a:off x="431640" y="4724280"/>
            <a:ext cx="2285640" cy="20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" sz="800" spc="-1" strike="noStrike">
                <a:solidFill>
                  <a:srgbClr val="b8b8b8"/>
                </a:solidFill>
                <a:latin typeface="Arial"/>
                <a:ea typeface="Arial"/>
              </a:rPr>
              <a:t>HeartBeat · GX</a:t>
            </a:r>
            <a:endParaRPr b="0" lang="es-E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" name="Google Shape;116;p16"/>
          <p:cNvSpPr/>
          <p:nvPr/>
        </p:nvSpPr>
        <p:spPr>
          <a:xfrm>
            <a:off x="482760" y="2489040"/>
            <a:ext cx="3809520" cy="736200"/>
          </a:xfrm>
          <a:prstGeom prst="rect">
            <a:avLst/>
          </a:prstGeom>
          <a:solidFill>
            <a:srgbClr val="17171a"/>
          </a:solidFill>
          <a:ln w="12700">
            <a:solidFill>
              <a:srgbClr val="3a3a4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s-E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" name="Google Shape;117;p16"/>
          <p:cNvSpPr/>
          <p:nvPr/>
        </p:nvSpPr>
        <p:spPr>
          <a:xfrm>
            <a:off x="482760" y="2489040"/>
            <a:ext cx="63360" cy="736200"/>
          </a:xfrm>
          <a:prstGeom prst="rect">
            <a:avLst/>
          </a:prstGeom>
          <a:solidFill>
            <a:srgbClr val="b3122d"/>
          </a:solidFill>
          <a:ln w="12700">
            <a:solidFill>
              <a:srgbClr val="b3122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0" name="Google Shape;118;p16" descr=""/>
          <p:cNvPicPr/>
          <p:nvPr/>
        </p:nvPicPr>
        <p:blipFill>
          <a:blip r:embed="rId1"/>
          <a:stretch/>
        </p:blipFill>
        <p:spPr>
          <a:xfrm>
            <a:off x="647640" y="2519280"/>
            <a:ext cx="3479400" cy="3479400"/>
          </a:xfrm>
          <a:prstGeom prst="rect">
            <a:avLst/>
          </a:prstGeom>
          <a:ln w="0">
            <a:noFill/>
          </a:ln>
        </p:spPr>
      </p:pic>
      <p:pic>
        <p:nvPicPr>
          <p:cNvPr id="131" name="Google Shape;119;p16" descr=""/>
          <p:cNvPicPr/>
          <p:nvPr/>
        </p:nvPicPr>
        <p:blipFill>
          <a:blip r:embed="rId2"/>
          <a:stretch/>
        </p:blipFill>
        <p:spPr>
          <a:xfrm>
            <a:off x="1513800" y="2489040"/>
            <a:ext cx="1691640" cy="3150720"/>
          </a:xfrm>
          <a:prstGeom prst="rect">
            <a:avLst/>
          </a:prstGeom>
          <a:ln w="0">
            <a:noFill/>
          </a:ln>
        </p:spPr>
      </p:pic>
      <p:sp>
        <p:nvSpPr>
          <p:cNvPr id="132" name="Google Shape;120;p16"/>
          <p:cNvSpPr/>
          <p:nvPr/>
        </p:nvSpPr>
        <p:spPr>
          <a:xfrm>
            <a:off x="431640" y="774720"/>
            <a:ext cx="7111800" cy="37800"/>
          </a:xfrm>
          <a:prstGeom prst="rect">
            <a:avLst/>
          </a:prstGeom>
          <a:solidFill>
            <a:srgbClr val="b3122d"/>
          </a:solidFill>
          <a:ln w="12700">
            <a:solidFill>
              <a:srgbClr val="b3122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19080" bIns="1908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Google Shape;121;p16"/>
          <p:cNvSpPr/>
          <p:nvPr/>
        </p:nvSpPr>
        <p:spPr>
          <a:xfrm>
            <a:off x="8318520" y="4673520"/>
            <a:ext cx="4060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s" sz="1100" spc="-1" strike="noStrike">
                <a:solidFill>
                  <a:srgbClr val="b3122d"/>
                </a:solidFill>
                <a:latin typeface="Arial"/>
                <a:ea typeface="Arial"/>
              </a:rPr>
              <a:t>04</a:t>
            </a:r>
            <a:endParaRPr b="0" lang="es-E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4" name="Google Shape;122;p16"/>
          <p:cNvSpPr/>
          <p:nvPr/>
        </p:nvSpPr>
        <p:spPr>
          <a:xfrm>
            <a:off x="482760" y="1219320"/>
            <a:ext cx="3809520" cy="888480"/>
          </a:xfrm>
          <a:prstGeom prst="rect">
            <a:avLst/>
          </a:prstGeom>
          <a:solidFill>
            <a:srgbClr val="17171a"/>
          </a:solidFill>
          <a:ln w="12700">
            <a:solidFill>
              <a:srgbClr val="3a3a4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s-E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5" name="Google Shape;123;p16"/>
          <p:cNvSpPr/>
          <p:nvPr/>
        </p:nvSpPr>
        <p:spPr>
          <a:xfrm>
            <a:off x="482760" y="1219320"/>
            <a:ext cx="63360" cy="888480"/>
          </a:xfrm>
          <a:prstGeom prst="rect">
            <a:avLst/>
          </a:prstGeom>
          <a:solidFill>
            <a:srgbClr val="b3122d"/>
          </a:solidFill>
          <a:ln w="12700">
            <a:solidFill>
              <a:srgbClr val="b3122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Google Shape;124;p16"/>
          <p:cNvSpPr/>
          <p:nvPr/>
        </p:nvSpPr>
        <p:spPr>
          <a:xfrm>
            <a:off x="685800" y="1219320"/>
            <a:ext cx="3454200" cy="35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s" sz="1000" spc="-1" strike="noStrike">
                <a:solidFill>
                  <a:srgbClr val="b3122d"/>
                </a:solidFill>
                <a:latin typeface="Arial"/>
                <a:ea typeface="Arial"/>
              </a:rPr>
              <a:t>Planteamiento</a:t>
            </a:r>
            <a:endParaRPr b="0" lang="es-E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" name="Google Shape;125;p16"/>
          <p:cNvSpPr/>
          <p:nvPr/>
        </p:nvSpPr>
        <p:spPr>
          <a:xfrm>
            <a:off x="685800" y="1562040"/>
            <a:ext cx="345420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" sz="1200" spc="-1" strike="noStrike">
                <a:solidFill>
                  <a:srgbClr val="f2f2f2"/>
                </a:solidFill>
                <a:latin typeface="Arial"/>
                <a:ea typeface="Arial"/>
              </a:rPr>
              <a:t>La zona del pulso se reduce al acercarse el enemigo, generando errores y tensión.</a:t>
            </a:r>
            <a:endParaRPr b="0" lang="es-E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8" name="Google Shape;126;p16"/>
          <p:cNvSpPr/>
          <p:nvPr/>
        </p:nvSpPr>
        <p:spPr>
          <a:xfrm>
            <a:off x="4826160" y="1219320"/>
            <a:ext cx="3835080" cy="1168200"/>
          </a:xfrm>
          <a:prstGeom prst="rect">
            <a:avLst/>
          </a:prstGeom>
          <a:solidFill>
            <a:srgbClr val="202026"/>
          </a:solidFill>
          <a:ln w="12700">
            <a:solidFill>
              <a:srgbClr val="7a0b1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s-E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9" name="Google Shape;127;p16"/>
          <p:cNvSpPr/>
          <p:nvPr/>
        </p:nvSpPr>
        <p:spPr>
          <a:xfrm>
            <a:off x="5003640" y="1384200"/>
            <a:ext cx="347940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s" sz="2400" spc="-1" strike="noStrike">
                <a:solidFill>
                  <a:srgbClr val="f2f2f2"/>
                </a:solidFill>
                <a:latin typeface="Arial"/>
                <a:ea typeface="Arial"/>
              </a:rPr>
              <a:t>1.0 pp</a:t>
            </a:r>
            <a:endParaRPr b="0" lang="es-E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Google Shape;128;p16"/>
          <p:cNvSpPr/>
          <p:nvPr/>
        </p:nvSpPr>
        <p:spPr>
          <a:xfrm>
            <a:off x="5003640" y="1854360"/>
            <a:ext cx="3479400" cy="48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" sz="1000" spc="-1" strike="noStrike">
                <a:solidFill>
                  <a:srgbClr val="b8b8b8"/>
                </a:solidFill>
                <a:latin typeface="Arial"/>
                <a:ea typeface="Arial"/>
              </a:rPr>
              <a:t>Diferencia de fallos entre zona grande y pequeña. Mecánica no validada por datos.</a:t>
            </a:r>
            <a:endParaRPr b="0" lang="es-E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" name="Google Shape;129;p16"/>
          <p:cNvSpPr/>
          <p:nvPr/>
        </p:nvSpPr>
        <p:spPr>
          <a:xfrm>
            <a:off x="685800" y="2489400"/>
            <a:ext cx="3454200" cy="35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s" sz="1000" spc="-1" strike="noStrike">
                <a:solidFill>
                  <a:srgbClr val="b3122d"/>
                </a:solidFill>
                <a:latin typeface="Arial"/>
                <a:ea typeface="Arial"/>
              </a:rPr>
              <a:t>GUR</a:t>
            </a:r>
            <a:endParaRPr b="0" lang="es-E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Google Shape;130;p16"/>
          <p:cNvSpPr/>
          <p:nvPr/>
        </p:nvSpPr>
        <p:spPr>
          <a:xfrm>
            <a:off x="685800" y="2755800"/>
            <a:ext cx="3454200" cy="35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" sz="1200" spc="-1" strike="noStrike">
                <a:solidFill>
                  <a:srgbClr val="f2f2f2"/>
                </a:solidFill>
                <a:latin typeface="Arial"/>
                <a:ea typeface="Arial"/>
              </a:rPr>
              <a:t>"Iba alternando la vista o lo automatizaba".</a:t>
            </a:r>
            <a:endParaRPr b="0" lang="es-E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3" name="Google Shape;131;p16"/>
          <p:cNvSpPr/>
          <p:nvPr/>
        </p:nvSpPr>
        <p:spPr>
          <a:xfrm>
            <a:off x="4826160" y="2768760"/>
            <a:ext cx="3835080" cy="1218960"/>
          </a:xfrm>
          <a:prstGeom prst="rect">
            <a:avLst/>
          </a:prstGeom>
          <a:solidFill>
            <a:srgbClr val="17171a"/>
          </a:solidFill>
          <a:ln w="12700">
            <a:solidFill>
              <a:srgbClr val="3a3a4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s-E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Google Shape;132;p16"/>
          <p:cNvSpPr/>
          <p:nvPr/>
        </p:nvSpPr>
        <p:spPr>
          <a:xfrm>
            <a:off x="4826160" y="2768760"/>
            <a:ext cx="63360" cy="1218960"/>
          </a:xfrm>
          <a:prstGeom prst="rect">
            <a:avLst/>
          </a:prstGeom>
          <a:solidFill>
            <a:srgbClr val="b3122d"/>
          </a:solidFill>
          <a:ln w="12700">
            <a:solidFill>
              <a:srgbClr val="b3122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Google Shape;133;p16"/>
          <p:cNvSpPr/>
          <p:nvPr/>
        </p:nvSpPr>
        <p:spPr>
          <a:xfrm>
            <a:off x="5029200" y="2768760"/>
            <a:ext cx="3479400" cy="35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s" sz="1000" spc="-1" strike="noStrike">
                <a:solidFill>
                  <a:srgbClr val="b3122d"/>
                </a:solidFill>
                <a:latin typeface="Arial"/>
                <a:ea typeface="Arial"/>
              </a:rPr>
              <a:t>Triangulación</a:t>
            </a:r>
            <a:endParaRPr b="0" lang="es-E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6" name="Google Shape;134;p16"/>
          <p:cNvSpPr/>
          <p:nvPr/>
        </p:nvSpPr>
        <p:spPr>
          <a:xfrm>
            <a:off x="5029200" y="3097440"/>
            <a:ext cx="347940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" sz="1200" spc="-1" strike="noStrike">
                <a:solidFill>
                  <a:srgbClr val="f2f2f2"/>
                </a:solidFill>
                <a:latin typeface="Arial"/>
                <a:ea typeface="Arial"/>
              </a:rPr>
              <a:t>Genera tensión estética (MDA), pero la carga cognitiva se gestiona automatizando el ritmo en lugar de fallar más.</a:t>
            </a:r>
            <a:endParaRPr b="0" lang="es-ES" sz="12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47" name="Google Shape;135;p16" descr=""/>
          <p:cNvPicPr/>
          <p:nvPr/>
        </p:nvPicPr>
        <p:blipFill>
          <a:blip r:embed="rId3"/>
          <a:stretch/>
        </p:blipFill>
        <p:spPr>
          <a:xfrm>
            <a:off x="5281920" y="324000"/>
            <a:ext cx="1691640" cy="394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0b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0;p17"/>
          <p:cNvSpPr/>
          <p:nvPr/>
        </p:nvSpPr>
        <p:spPr>
          <a:xfrm>
            <a:off x="431640" y="279360"/>
            <a:ext cx="736560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s" sz="2200" spc="-1" strike="noStrike">
                <a:solidFill>
                  <a:srgbClr val="f2f2f2"/>
                </a:solidFill>
                <a:latin typeface="Arial"/>
                <a:ea typeface="Arial"/>
              </a:rPr>
              <a:t>Hipótesis 2 - Uso de armarios (Seguridad)</a:t>
            </a:r>
            <a:endParaRPr b="0" lang="es-E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9" name="Google Shape;141;p17"/>
          <p:cNvSpPr/>
          <p:nvPr/>
        </p:nvSpPr>
        <p:spPr>
          <a:xfrm>
            <a:off x="431640" y="774720"/>
            <a:ext cx="7111800" cy="37800"/>
          </a:xfrm>
          <a:prstGeom prst="rect">
            <a:avLst/>
          </a:prstGeom>
          <a:solidFill>
            <a:srgbClr val="b3122d"/>
          </a:solidFill>
          <a:ln w="12700">
            <a:solidFill>
              <a:srgbClr val="b3122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19080" bIns="1908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Google Shape;142;p17"/>
          <p:cNvSpPr/>
          <p:nvPr/>
        </p:nvSpPr>
        <p:spPr>
          <a:xfrm>
            <a:off x="431640" y="4724280"/>
            <a:ext cx="2285640" cy="20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" sz="800" spc="-1" strike="noStrike">
                <a:solidFill>
                  <a:srgbClr val="b8b8b8"/>
                </a:solidFill>
                <a:latin typeface="Arial"/>
                <a:ea typeface="Arial"/>
              </a:rPr>
              <a:t>HeartBeat · GX</a:t>
            </a:r>
            <a:endParaRPr b="0" lang="es-E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1" name="Google Shape;143;p17"/>
          <p:cNvSpPr/>
          <p:nvPr/>
        </p:nvSpPr>
        <p:spPr>
          <a:xfrm>
            <a:off x="8318520" y="4673520"/>
            <a:ext cx="4060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s" sz="1100" spc="-1" strike="noStrike">
                <a:solidFill>
                  <a:srgbClr val="b3122d"/>
                </a:solidFill>
                <a:latin typeface="Arial"/>
                <a:ea typeface="Arial"/>
              </a:rPr>
              <a:t>05</a:t>
            </a:r>
            <a:endParaRPr b="0" lang="es-E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2" name="Google Shape;144;p17"/>
          <p:cNvSpPr/>
          <p:nvPr/>
        </p:nvSpPr>
        <p:spPr>
          <a:xfrm>
            <a:off x="431640" y="996840"/>
            <a:ext cx="2584800" cy="3466800"/>
          </a:xfrm>
          <a:prstGeom prst="rect">
            <a:avLst/>
          </a:prstGeom>
          <a:solidFill>
            <a:srgbClr val="101014"/>
          </a:solidFill>
          <a:ln w="23350">
            <a:solidFill>
              <a:srgbClr val="b3122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3880" rIns="83880" tIns="83880" bIns="8388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s-E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3" name="Google Shape;145;p17"/>
          <p:cNvSpPr/>
          <p:nvPr/>
        </p:nvSpPr>
        <p:spPr>
          <a:xfrm>
            <a:off x="431640" y="4464000"/>
            <a:ext cx="41018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" sz="900" spc="-1" strike="noStrike">
                <a:solidFill>
                  <a:srgbClr val="b8b8b8"/>
                </a:solidFill>
                <a:latin typeface="Arial"/>
                <a:ea typeface="Arial"/>
              </a:rPr>
              <a:t>[IMAGEN: Mapa de calor de uso de armarios (Hideouts)]</a:t>
            </a:r>
            <a:endParaRPr b="0" lang="es-E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4" name="Google Shape;146;p17"/>
          <p:cNvSpPr/>
          <p:nvPr/>
        </p:nvSpPr>
        <p:spPr>
          <a:xfrm>
            <a:off x="5334120" y="1219320"/>
            <a:ext cx="1549080" cy="1041120"/>
          </a:xfrm>
          <a:prstGeom prst="rect">
            <a:avLst/>
          </a:prstGeom>
          <a:solidFill>
            <a:srgbClr val="202026"/>
          </a:solidFill>
          <a:ln w="12700">
            <a:solidFill>
              <a:srgbClr val="7a0b1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s-E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5" name="Google Shape;147;p17"/>
          <p:cNvSpPr/>
          <p:nvPr/>
        </p:nvSpPr>
        <p:spPr>
          <a:xfrm>
            <a:off x="5511960" y="1219320"/>
            <a:ext cx="1193400" cy="35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s" sz="2400" spc="-1" strike="noStrike">
                <a:solidFill>
                  <a:srgbClr val="f2f2f2"/>
                </a:solidFill>
                <a:latin typeface="Arial"/>
                <a:ea typeface="Arial"/>
              </a:rPr>
              <a:t>70%</a:t>
            </a:r>
            <a:endParaRPr b="0" lang="es-E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6" name="Google Shape;148;p17"/>
          <p:cNvSpPr/>
          <p:nvPr/>
        </p:nvSpPr>
        <p:spPr>
          <a:xfrm>
            <a:off x="5397480" y="1677240"/>
            <a:ext cx="1310760" cy="53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" sz="1000" spc="-1" strike="noStrike">
                <a:solidFill>
                  <a:srgbClr val="b8b8b8"/>
                </a:solidFill>
                <a:latin typeface="Arial"/>
                <a:ea typeface="Arial"/>
              </a:rPr>
              <a:t>Usos con enemigo cerca. Hipótesis Validada.</a:t>
            </a:r>
            <a:endParaRPr b="0" lang="es-E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7" name="Google Shape;149;p17"/>
          <p:cNvSpPr/>
          <p:nvPr/>
        </p:nvSpPr>
        <p:spPr>
          <a:xfrm>
            <a:off x="7112160" y="1219320"/>
            <a:ext cx="1549080" cy="1041120"/>
          </a:xfrm>
          <a:prstGeom prst="rect">
            <a:avLst/>
          </a:prstGeom>
          <a:solidFill>
            <a:srgbClr val="202026"/>
          </a:solidFill>
          <a:ln w="12700">
            <a:solidFill>
              <a:srgbClr val="7a0b1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s-E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8" name="Google Shape;150;p17"/>
          <p:cNvSpPr/>
          <p:nvPr/>
        </p:nvSpPr>
        <p:spPr>
          <a:xfrm>
            <a:off x="7289640" y="1219320"/>
            <a:ext cx="1193400" cy="35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s" sz="2400" spc="-1" strike="noStrike">
                <a:solidFill>
                  <a:srgbClr val="f2f2f2"/>
                </a:solidFill>
                <a:latin typeface="Arial"/>
                <a:ea typeface="Arial"/>
              </a:rPr>
              <a:t>17.7s</a:t>
            </a:r>
            <a:endParaRPr b="0" lang="es-E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9" name="Google Shape;151;p17"/>
          <p:cNvSpPr/>
          <p:nvPr/>
        </p:nvSpPr>
        <p:spPr>
          <a:xfrm>
            <a:off x="7350120" y="1677240"/>
            <a:ext cx="1310760" cy="53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" sz="1000" spc="-1" strike="noStrike">
                <a:solidFill>
                  <a:srgbClr val="b8b8b8"/>
                </a:solidFill>
                <a:latin typeface="Arial"/>
                <a:ea typeface="Arial"/>
              </a:rPr>
              <a:t>Tiempo medio dentro.</a:t>
            </a:r>
            <a:endParaRPr b="0" lang="es-E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0" name="Google Shape;152;p17"/>
          <p:cNvSpPr/>
          <p:nvPr/>
        </p:nvSpPr>
        <p:spPr>
          <a:xfrm>
            <a:off x="5334120" y="2514600"/>
            <a:ext cx="3327120" cy="736200"/>
          </a:xfrm>
          <a:prstGeom prst="rect">
            <a:avLst/>
          </a:prstGeom>
          <a:solidFill>
            <a:srgbClr val="17171a"/>
          </a:solidFill>
          <a:ln w="12700">
            <a:solidFill>
              <a:srgbClr val="3a3a4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s-E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1" name="Google Shape;153;p17"/>
          <p:cNvSpPr/>
          <p:nvPr/>
        </p:nvSpPr>
        <p:spPr>
          <a:xfrm>
            <a:off x="5334120" y="2514600"/>
            <a:ext cx="63360" cy="736200"/>
          </a:xfrm>
          <a:prstGeom prst="rect">
            <a:avLst/>
          </a:prstGeom>
          <a:solidFill>
            <a:srgbClr val="b3122d"/>
          </a:solidFill>
          <a:ln w="12700">
            <a:solidFill>
              <a:srgbClr val="b3122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Google Shape;154;p17"/>
          <p:cNvSpPr/>
          <p:nvPr/>
        </p:nvSpPr>
        <p:spPr>
          <a:xfrm>
            <a:off x="5537160" y="2514600"/>
            <a:ext cx="2971440" cy="35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s" sz="1000" spc="-1" strike="noStrike">
                <a:solidFill>
                  <a:srgbClr val="b3122d"/>
                </a:solidFill>
                <a:latin typeface="Arial"/>
                <a:ea typeface="Arial"/>
              </a:rPr>
              <a:t>GUR</a:t>
            </a:r>
            <a:endParaRPr b="0" lang="es-E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3" name="Google Shape;155;p17"/>
          <p:cNvSpPr/>
          <p:nvPr/>
        </p:nvSpPr>
        <p:spPr>
          <a:xfrm>
            <a:off x="5537160" y="2677680"/>
            <a:ext cx="2971440" cy="45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" sz="1200" spc="-1" strike="noStrike">
                <a:solidFill>
                  <a:srgbClr val="f2f2f2"/>
                </a:solidFill>
                <a:latin typeface="Arial"/>
                <a:ea typeface="Arial"/>
              </a:rPr>
              <a:t>Sentimiento de "alivio" y tiempo para estudiar rutas.</a:t>
            </a:r>
            <a:endParaRPr b="0" lang="es-E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4" name="Google Shape;156;p17"/>
          <p:cNvSpPr/>
          <p:nvPr/>
        </p:nvSpPr>
        <p:spPr>
          <a:xfrm>
            <a:off x="5334120" y="3479760"/>
            <a:ext cx="3327120" cy="812520"/>
          </a:xfrm>
          <a:prstGeom prst="rect">
            <a:avLst/>
          </a:prstGeom>
          <a:solidFill>
            <a:srgbClr val="17171a"/>
          </a:solidFill>
          <a:ln w="12700">
            <a:solidFill>
              <a:srgbClr val="3a3a4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s-E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5" name="Google Shape;157;p17"/>
          <p:cNvSpPr/>
          <p:nvPr/>
        </p:nvSpPr>
        <p:spPr>
          <a:xfrm>
            <a:off x="5334120" y="3479760"/>
            <a:ext cx="63360" cy="812520"/>
          </a:xfrm>
          <a:prstGeom prst="rect">
            <a:avLst/>
          </a:prstGeom>
          <a:solidFill>
            <a:srgbClr val="b3122d"/>
          </a:solidFill>
          <a:ln w="12700">
            <a:solidFill>
              <a:srgbClr val="b3122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Google Shape;158;p17"/>
          <p:cNvSpPr/>
          <p:nvPr/>
        </p:nvSpPr>
        <p:spPr>
          <a:xfrm>
            <a:off x="5537160" y="3479760"/>
            <a:ext cx="2971440" cy="35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s" sz="1000" spc="-1" strike="noStrike">
                <a:solidFill>
                  <a:srgbClr val="b3122d"/>
                </a:solidFill>
                <a:latin typeface="Arial"/>
                <a:ea typeface="Arial"/>
              </a:rPr>
              <a:t>Triangulación</a:t>
            </a:r>
            <a:endParaRPr b="0" lang="es-E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7" name="Google Shape;159;p17"/>
          <p:cNvSpPr/>
          <p:nvPr/>
        </p:nvSpPr>
        <p:spPr>
          <a:xfrm>
            <a:off x="5537160" y="3719160"/>
            <a:ext cx="2971440" cy="45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" sz="1200" spc="-1" strike="noStrike">
                <a:solidFill>
                  <a:srgbClr val="f2f2f2"/>
                </a:solidFill>
                <a:latin typeface="Arial"/>
                <a:ea typeface="Arial"/>
              </a:rPr>
              <a:t>Excelente nodo de seguridad. Dinámica y estética alineadas con el diseño.</a:t>
            </a:r>
            <a:endParaRPr b="0" lang="es-ES" sz="12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68" name="Google Shape;160;p17" descr=""/>
          <p:cNvPicPr/>
          <p:nvPr/>
        </p:nvPicPr>
        <p:blipFill>
          <a:blip r:embed="rId1"/>
          <a:stretch/>
        </p:blipFill>
        <p:spPr>
          <a:xfrm>
            <a:off x="3307320" y="1023120"/>
            <a:ext cx="1669320" cy="3368520"/>
          </a:xfrm>
          <a:prstGeom prst="rect">
            <a:avLst/>
          </a:prstGeom>
          <a:ln w="0">
            <a:noFill/>
          </a:ln>
        </p:spPr>
      </p:pic>
      <p:pic>
        <p:nvPicPr>
          <p:cNvPr id="169" name="Google Shape;161;p17" descr=""/>
          <p:cNvPicPr/>
          <p:nvPr/>
        </p:nvPicPr>
        <p:blipFill>
          <a:blip r:embed="rId2"/>
          <a:srcRect l="27903" t="6332" r="25602" b="8180"/>
          <a:stretch/>
        </p:blipFill>
        <p:spPr>
          <a:xfrm>
            <a:off x="514080" y="1113480"/>
            <a:ext cx="2389320" cy="32331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0b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66;p18"/>
          <p:cNvSpPr/>
          <p:nvPr/>
        </p:nvSpPr>
        <p:spPr>
          <a:xfrm>
            <a:off x="431640" y="279360"/>
            <a:ext cx="736560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s" sz="2200" spc="-1" strike="noStrike">
                <a:solidFill>
                  <a:srgbClr val="f2f2f2"/>
                </a:solidFill>
                <a:latin typeface="Arial"/>
                <a:ea typeface="Arial"/>
              </a:rPr>
              <a:t>Hipótesis 3 - Fatiga como castigo</a:t>
            </a:r>
            <a:endParaRPr b="0" lang="es-E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1" name="Google Shape;167;p18"/>
          <p:cNvSpPr/>
          <p:nvPr/>
        </p:nvSpPr>
        <p:spPr>
          <a:xfrm>
            <a:off x="431640" y="774720"/>
            <a:ext cx="7111800" cy="37800"/>
          </a:xfrm>
          <a:prstGeom prst="rect">
            <a:avLst/>
          </a:prstGeom>
          <a:solidFill>
            <a:srgbClr val="b3122d"/>
          </a:solidFill>
          <a:ln w="12700">
            <a:solidFill>
              <a:srgbClr val="b3122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19080" bIns="1908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Google Shape;168;p18"/>
          <p:cNvSpPr/>
          <p:nvPr/>
        </p:nvSpPr>
        <p:spPr>
          <a:xfrm>
            <a:off x="431640" y="4724280"/>
            <a:ext cx="2285640" cy="20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" sz="800" spc="-1" strike="noStrike">
                <a:solidFill>
                  <a:srgbClr val="b8b8b8"/>
                </a:solidFill>
                <a:latin typeface="Arial"/>
                <a:ea typeface="Arial"/>
              </a:rPr>
              <a:t>HeartBeat · GX</a:t>
            </a:r>
            <a:endParaRPr b="0" lang="es-E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3" name="Google Shape;169;p18"/>
          <p:cNvSpPr/>
          <p:nvPr/>
        </p:nvSpPr>
        <p:spPr>
          <a:xfrm>
            <a:off x="8318520" y="4673520"/>
            <a:ext cx="4060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s" sz="1100" spc="-1" strike="noStrike">
                <a:solidFill>
                  <a:srgbClr val="b3122d"/>
                </a:solidFill>
                <a:latin typeface="Arial"/>
                <a:ea typeface="Arial"/>
              </a:rPr>
              <a:t>06</a:t>
            </a:r>
            <a:endParaRPr b="0" lang="es-E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4" name="Google Shape;170;p18"/>
          <p:cNvSpPr/>
          <p:nvPr/>
        </p:nvSpPr>
        <p:spPr>
          <a:xfrm>
            <a:off x="482760" y="1219320"/>
            <a:ext cx="3809520" cy="787320"/>
          </a:xfrm>
          <a:prstGeom prst="rect">
            <a:avLst/>
          </a:prstGeom>
          <a:solidFill>
            <a:srgbClr val="17171a"/>
          </a:solidFill>
          <a:ln w="12700">
            <a:solidFill>
              <a:srgbClr val="3a3a4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s-E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5" name="Google Shape;171;p18"/>
          <p:cNvSpPr/>
          <p:nvPr/>
        </p:nvSpPr>
        <p:spPr>
          <a:xfrm>
            <a:off x="482760" y="1219320"/>
            <a:ext cx="63360" cy="787320"/>
          </a:xfrm>
          <a:prstGeom prst="rect">
            <a:avLst/>
          </a:prstGeom>
          <a:solidFill>
            <a:srgbClr val="b3122d"/>
          </a:solidFill>
          <a:ln w="12700">
            <a:solidFill>
              <a:srgbClr val="b3122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Google Shape;172;p18"/>
          <p:cNvSpPr/>
          <p:nvPr/>
        </p:nvSpPr>
        <p:spPr>
          <a:xfrm>
            <a:off x="685800" y="1270080"/>
            <a:ext cx="345420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s" sz="1000" spc="-1" strike="noStrike">
                <a:solidFill>
                  <a:srgbClr val="b3122d"/>
                </a:solidFill>
                <a:latin typeface="Arial"/>
                <a:ea typeface="Arial"/>
              </a:rPr>
              <a:t>Planteamiento</a:t>
            </a:r>
            <a:endParaRPr b="0" lang="es-E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7" name="Google Shape;173;p18"/>
          <p:cNvSpPr/>
          <p:nvPr/>
        </p:nvSpPr>
        <p:spPr>
          <a:xfrm>
            <a:off x="685800" y="1536840"/>
            <a:ext cx="3454200" cy="35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" sz="1200" spc="-1" strike="noStrike">
                <a:solidFill>
                  <a:srgbClr val="f2f2f2"/>
                </a:solidFill>
                <a:latin typeface="Arial"/>
                <a:ea typeface="Arial"/>
              </a:rPr>
              <a:t>Fallar el pulso 3 veces inmoviliza al jugador.</a:t>
            </a:r>
            <a:endParaRPr b="0" lang="es-E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8" name="Google Shape;174;p18"/>
          <p:cNvSpPr/>
          <p:nvPr/>
        </p:nvSpPr>
        <p:spPr>
          <a:xfrm>
            <a:off x="4826160" y="1219320"/>
            <a:ext cx="3835080" cy="1168200"/>
          </a:xfrm>
          <a:prstGeom prst="rect">
            <a:avLst/>
          </a:prstGeom>
          <a:solidFill>
            <a:srgbClr val="202026"/>
          </a:solidFill>
          <a:ln w="12700">
            <a:solidFill>
              <a:srgbClr val="7a0b1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s-E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9" name="Google Shape;175;p18"/>
          <p:cNvSpPr/>
          <p:nvPr/>
        </p:nvSpPr>
        <p:spPr>
          <a:xfrm>
            <a:off x="5003640" y="1384200"/>
            <a:ext cx="347940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s" sz="2400" spc="-1" strike="noStrike">
                <a:solidFill>
                  <a:srgbClr val="f2f2f2"/>
                </a:solidFill>
                <a:latin typeface="Arial"/>
                <a:ea typeface="Arial"/>
              </a:rPr>
              <a:t>12.9%</a:t>
            </a:r>
            <a:endParaRPr b="0" lang="es-E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0" name="Google Shape;176;p18"/>
          <p:cNvSpPr/>
          <p:nvPr/>
        </p:nvSpPr>
        <p:spPr>
          <a:xfrm>
            <a:off x="5003640" y="1854360"/>
            <a:ext cx="3479400" cy="48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" sz="1000" spc="-1" strike="noStrike">
                <a:solidFill>
                  <a:srgbClr val="b8b8b8"/>
                </a:solidFill>
                <a:latin typeface="Arial"/>
                <a:ea typeface="Arial"/>
              </a:rPr>
              <a:t>Detecciones del enemigo en estado de fatiga. Hipótesis Validada.</a:t>
            </a:r>
            <a:endParaRPr b="0" lang="es-E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1" name="Google Shape;177;p18"/>
          <p:cNvSpPr/>
          <p:nvPr/>
        </p:nvSpPr>
        <p:spPr>
          <a:xfrm>
            <a:off x="482760" y="2463840"/>
            <a:ext cx="3809520" cy="736200"/>
          </a:xfrm>
          <a:prstGeom prst="rect">
            <a:avLst/>
          </a:prstGeom>
          <a:solidFill>
            <a:srgbClr val="17171a"/>
          </a:solidFill>
          <a:ln w="12700">
            <a:solidFill>
              <a:srgbClr val="3a3a4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s-E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2" name="Google Shape;178;p18"/>
          <p:cNvSpPr/>
          <p:nvPr/>
        </p:nvSpPr>
        <p:spPr>
          <a:xfrm>
            <a:off x="482760" y="2463840"/>
            <a:ext cx="63360" cy="736200"/>
          </a:xfrm>
          <a:prstGeom prst="rect">
            <a:avLst/>
          </a:prstGeom>
          <a:solidFill>
            <a:srgbClr val="b3122d"/>
          </a:solidFill>
          <a:ln w="12700">
            <a:solidFill>
              <a:srgbClr val="b3122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Google Shape;179;p18"/>
          <p:cNvSpPr/>
          <p:nvPr/>
        </p:nvSpPr>
        <p:spPr>
          <a:xfrm>
            <a:off x="685800" y="2463840"/>
            <a:ext cx="3454200" cy="35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s" sz="1000" spc="-1" strike="noStrike">
                <a:solidFill>
                  <a:srgbClr val="b3122d"/>
                </a:solidFill>
                <a:latin typeface="Arial"/>
                <a:ea typeface="Arial"/>
              </a:rPr>
              <a:t>GUR</a:t>
            </a:r>
            <a:endParaRPr b="0" lang="es-E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4" name="Google Shape;180;p18"/>
          <p:cNvSpPr/>
          <p:nvPr/>
        </p:nvSpPr>
        <p:spPr>
          <a:xfrm>
            <a:off x="685800" y="2730600"/>
            <a:ext cx="3454200" cy="35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" sz="1200" spc="-1" strike="noStrike">
                <a:solidFill>
                  <a:srgbClr val="f2f2f2"/>
                </a:solidFill>
                <a:latin typeface="Arial"/>
                <a:ea typeface="Arial"/>
              </a:rPr>
              <a:t>"No entendía por qué no me podía mover".</a:t>
            </a:r>
            <a:endParaRPr b="0" lang="es-E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5" name="Google Shape;181;p18"/>
          <p:cNvSpPr/>
          <p:nvPr/>
        </p:nvSpPr>
        <p:spPr>
          <a:xfrm>
            <a:off x="4826160" y="2819520"/>
            <a:ext cx="3835080" cy="1041120"/>
          </a:xfrm>
          <a:prstGeom prst="rect">
            <a:avLst/>
          </a:prstGeom>
          <a:solidFill>
            <a:srgbClr val="17171a"/>
          </a:solidFill>
          <a:ln w="12700">
            <a:solidFill>
              <a:srgbClr val="3a3a4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s-E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6" name="Google Shape;182;p18"/>
          <p:cNvSpPr/>
          <p:nvPr/>
        </p:nvSpPr>
        <p:spPr>
          <a:xfrm>
            <a:off x="4826160" y="2819520"/>
            <a:ext cx="63360" cy="1041120"/>
          </a:xfrm>
          <a:prstGeom prst="rect">
            <a:avLst/>
          </a:prstGeom>
          <a:solidFill>
            <a:srgbClr val="b3122d"/>
          </a:solidFill>
          <a:ln w="12700">
            <a:solidFill>
              <a:srgbClr val="b3122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Google Shape;183;p18"/>
          <p:cNvSpPr/>
          <p:nvPr/>
        </p:nvSpPr>
        <p:spPr>
          <a:xfrm>
            <a:off x="5029200" y="2946240"/>
            <a:ext cx="3479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s" sz="1000" spc="-1" strike="noStrike">
                <a:solidFill>
                  <a:srgbClr val="b3122d"/>
                </a:solidFill>
                <a:latin typeface="Arial"/>
                <a:ea typeface="Arial"/>
              </a:rPr>
              <a:t>Triangulación</a:t>
            </a:r>
            <a:endParaRPr b="0" lang="es-E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" name="Google Shape;184;p18"/>
          <p:cNvSpPr/>
          <p:nvPr/>
        </p:nvSpPr>
        <p:spPr>
          <a:xfrm>
            <a:off x="5029200" y="3238560"/>
            <a:ext cx="3479400" cy="50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" sz="1200" spc="-1" strike="noStrike">
                <a:solidFill>
                  <a:srgbClr val="f2f2f2"/>
                </a:solidFill>
                <a:latin typeface="Arial"/>
                <a:ea typeface="Arial"/>
              </a:rPr>
              <a:t>El castigo funciona mecánicamente, pero falla la comunicación visual de la interfaz.</a:t>
            </a:r>
            <a:endParaRPr b="0" lang="es-ES" sz="12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89" name="Google Shape;185;p18" descr=""/>
          <p:cNvPicPr/>
          <p:nvPr/>
        </p:nvPicPr>
        <p:blipFill>
          <a:blip r:embed="rId1"/>
          <a:stretch/>
        </p:blipFill>
        <p:spPr>
          <a:xfrm>
            <a:off x="1117440" y="3386520"/>
            <a:ext cx="2590560" cy="12952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0b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0" name="Google Shape;190;p19" descr=""/>
          <p:cNvPicPr/>
          <p:nvPr/>
        </p:nvPicPr>
        <p:blipFill>
          <a:blip r:embed="rId1"/>
          <a:stretch/>
        </p:blipFill>
        <p:spPr>
          <a:xfrm>
            <a:off x="-2991600" y="-504000"/>
            <a:ext cx="10123200" cy="6627960"/>
          </a:xfrm>
          <a:prstGeom prst="rect">
            <a:avLst/>
          </a:prstGeom>
          <a:ln w="0">
            <a:noFill/>
          </a:ln>
        </p:spPr>
      </p:pic>
      <p:pic>
        <p:nvPicPr>
          <p:cNvPr id="191" name="Google Shape;191;p19" descr=""/>
          <p:cNvPicPr/>
          <p:nvPr/>
        </p:nvPicPr>
        <p:blipFill>
          <a:blip r:embed="rId2"/>
          <a:stretch/>
        </p:blipFill>
        <p:spPr>
          <a:xfrm>
            <a:off x="1624680" y="0"/>
            <a:ext cx="6003000" cy="6003000"/>
          </a:xfrm>
          <a:prstGeom prst="rect">
            <a:avLst/>
          </a:prstGeom>
          <a:ln w="0">
            <a:noFill/>
          </a:ln>
        </p:spPr>
      </p:pic>
      <p:pic>
        <p:nvPicPr>
          <p:cNvPr id="192" name="Google Shape;192;p19" descr=""/>
          <p:cNvPicPr/>
          <p:nvPr/>
        </p:nvPicPr>
        <p:blipFill>
          <a:blip r:embed="rId3"/>
          <a:stretch/>
        </p:blipFill>
        <p:spPr>
          <a:xfrm>
            <a:off x="4818960" y="476280"/>
            <a:ext cx="4741920" cy="4741920"/>
          </a:xfrm>
          <a:prstGeom prst="rect">
            <a:avLst/>
          </a:prstGeom>
          <a:ln w="0">
            <a:noFill/>
          </a:ln>
        </p:spPr>
      </p:pic>
      <p:sp>
        <p:nvSpPr>
          <p:cNvPr id="193" name="Google Shape;193;p19"/>
          <p:cNvSpPr/>
          <p:nvPr/>
        </p:nvSpPr>
        <p:spPr>
          <a:xfrm>
            <a:off x="431640" y="279360"/>
            <a:ext cx="736560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s" sz="2200" spc="-1" strike="noStrike">
                <a:solidFill>
                  <a:srgbClr val="f2f2f2"/>
                </a:solidFill>
                <a:latin typeface="Arial"/>
                <a:ea typeface="Arial"/>
              </a:rPr>
              <a:t>Hipótesis 4 - Uso de objetos (Consumibles)</a:t>
            </a:r>
            <a:endParaRPr b="0" lang="es-E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" name="Google Shape;194;p19"/>
          <p:cNvSpPr/>
          <p:nvPr/>
        </p:nvSpPr>
        <p:spPr>
          <a:xfrm>
            <a:off x="431640" y="774720"/>
            <a:ext cx="7111800" cy="37800"/>
          </a:xfrm>
          <a:prstGeom prst="rect">
            <a:avLst/>
          </a:prstGeom>
          <a:solidFill>
            <a:srgbClr val="b3122d"/>
          </a:solidFill>
          <a:ln w="12700">
            <a:solidFill>
              <a:srgbClr val="b3122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19080" bIns="1908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Google Shape;195;p19"/>
          <p:cNvSpPr/>
          <p:nvPr/>
        </p:nvSpPr>
        <p:spPr>
          <a:xfrm>
            <a:off x="431640" y="4724280"/>
            <a:ext cx="2285640" cy="20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" sz="800" spc="-1" strike="noStrike">
                <a:solidFill>
                  <a:srgbClr val="b8b8b8"/>
                </a:solidFill>
                <a:latin typeface="Arial"/>
                <a:ea typeface="Arial"/>
              </a:rPr>
              <a:t>HeartBeat · GX</a:t>
            </a:r>
            <a:endParaRPr b="0" lang="es-E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" name="Google Shape;196;p19"/>
          <p:cNvSpPr/>
          <p:nvPr/>
        </p:nvSpPr>
        <p:spPr>
          <a:xfrm>
            <a:off x="8318520" y="4673520"/>
            <a:ext cx="4060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s" sz="1100" spc="-1" strike="noStrike">
                <a:solidFill>
                  <a:srgbClr val="b3122d"/>
                </a:solidFill>
                <a:latin typeface="Arial"/>
                <a:ea typeface="Arial"/>
              </a:rPr>
              <a:t>07</a:t>
            </a:r>
            <a:endParaRPr b="0" lang="es-E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7" name="Google Shape;197;p19"/>
          <p:cNvSpPr/>
          <p:nvPr/>
        </p:nvSpPr>
        <p:spPr>
          <a:xfrm>
            <a:off x="482760" y="1244520"/>
            <a:ext cx="2412720" cy="1168200"/>
          </a:xfrm>
          <a:prstGeom prst="rect">
            <a:avLst/>
          </a:prstGeom>
          <a:solidFill>
            <a:srgbClr val="202026"/>
          </a:solidFill>
          <a:ln w="12700">
            <a:solidFill>
              <a:srgbClr val="7a0b1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s-E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8" name="Google Shape;198;p19"/>
          <p:cNvSpPr/>
          <p:nvPr/>
        </p:nvSpPr>
        <p:spPr>
          <a:xfrm>
            <a:off x="660240" y="1409760"/>
            <a:ext cx="205704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s" sz="2400" spc="-1" strike="noStrike">
                <a:solidFill>
                  <a:srgbClr val="f2f2f2"/>
                </a:solidFill>
                <a:latin typeface="Arial"/>
                <a:ea typeface="Arial"/>
              </a:rPr>
              <a:t>67.4%</a:t>
            </a:r>
            <a:endParaRPr b="0" lang="es-E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9" name="Google Shape;199;p19"/>
          <p:cNvSpPr/>
          <p:nvPr/>
        </p:nvSpPr>
        <p:spPr>
          <a:xfrm>
            <a:off x="660240" y="1879560"/>
            <a:ext cx="2057040" cy="48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" sz="1000" spc="-1" strike="noStrike">
                <a:solidFill>
                  <a:srgbClr val="b8b8b8"/>
                </a:solidFill>
                <a:latin typeface="Arial"/>
                <a:ea typeface="Arial"/>
              </a:rPr>
              <a:t>Uso bajo amenaza. Hipótesis Validada.</a:t>
            </a:r>
            <a:endParaRPr b="0" lang="es-E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0" name="Google Shape;200;p19"/>
          <p:cNvSpPr/>
          <p:nvPr/>
        </p:nvSpPr>
        <p:spPr>
          <a:xfrm>
            <a:off x="3365640" y="1244520"/>
            <a:ext cx="2412720" cy="1168200"/>
          </a:xfrm>
          <a:prstGeom prst="rect">
            <a:avLst/>
          </a:prstGeom>
          <a:solidFill>
            <a:srgbClr val="202026"/>
          </a:solidFill>
          <a:ln w="12700">
            <a:solidFill>
              <a:srgbClr val="7a0b1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s-E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1" name="Google Shape;201;p19"/>
          <p:cNvSpPr/>
          <p:nvPr/>
        </p:nvSpPr>
        <p:spPr>
          <a:xfrm>
            <a:off x="3543480" y="1409760"/>
            <a:ext cx="205704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s" sz="2400" spc="-1" strike="noStrike">
                <a:solidFill>
                  <a:srgbClr val="f2f2f2"/>
                </a:solidFill>
                <a:latin typeface="Arial"/>
                <a:ea typeface="Arial"/>
              </a:rPr>
              <a:t>84.2%</a:t>
            </a:r>
            <a:endParaRPr b="0" lang="es-E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2" name="Google Shape;202;p19"/>
          <p:cNvSpPr/>
          <p:nvPr/>
        </p:nvSpPr>
        <p:spPr>
          <a:xfrm>
            <a:off x="3543480" y="1879560"/>
            <a:ext cx="2057040" cy="48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" sz="1000" spc="-1" strike="noStrike">
                <a:solidFill>
                  <a:srgbClr val="b8b8b8"/>
                </a:solidFill>
                <a:latin typeface="Arial"/>
                <a:ea typeface="Arial"/>
              </a:rPr>
              <a:t>Uso de la Caja.</a:t>
            </a:r>
            <a:endParaRPr b="0" lang="es-E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3" name="Google Shape;203;p19"/>
          <p:cNvSpPr/>
          <p:nvPr/>
        </p:nvSpPr>
        <p:spPr>
          <a:xfrm>
            <a:off x="6248520" y="1244520"/>
            <a:ext cx="2412720" cy="1168200"/>
          </a:xfrm>
          <a:prstGeom prst="rect">
            <a:avLst/>
          </a:prstGeom>
          <a:solidFill>
            <a:srgbClr val="202026"/>
          </a:solidFill>
          <a:ln w="12700">
            <a:solidFill>
              <a:srgbClr val="7a0b1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s-E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4" name="Google Shape;204;p19"/>
          <p:cNvSpPr/>
          <p:nvPr/>
        </p:nvSpPr>
        <p:spPr>
          <a:xfrm>
            <a:off x="6426360" y="1409760"/>
            <a:ext cx="205704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s" sz="2400" spc="-1" strike="noStrike">
                <a:solidFill>
                  <a:srgbClr val="f2f2f2"/>
                </a:solidFill>
                <a:latin typeface="Arial"/>
                <a:ea typeface="Arial"/>
              </a:rPr>
              <a:t>36.4%</a:t>
            </a:r>
            <a:endParaRPr b="0" lang="es-E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5" name="Google Shape;205;p19"/>
          <p:cNvSpPr/>
          <p:nvPr/>
        </p:nvSpPr>
        <p:spPr>
          <a:xfrm>
            <a:off x="6426360" y="1879560"/>
            <a:ext cx="2057040" cy="48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" sz="1000" spc="-1" strike="noStrike">
                <a:solidFill>
                  <a:srgbClr val="b8b8b8"/>
                </a:solidFill>
                <a:latin typeface="Arial"/>
                <a:ea typeface="Arial"/>
              </a:rPr>
              <a:t>Uso de la Píldora.</a:t>
            </a:r>
            <a:endParaRPr b="0" lang="es-E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6" name="Google Shape;206;p19"/>
          <p:cNvSpPr/>
          <p:nvPr/>
        </p:nvSpPr>
        <p:spPr>
          <a:xfrm>
            <a:off x="482760" y="2844720"/>
            <a:ext cx="3835080" cy="1117080"/>
          </a:xfrm>
          <a:prstGeom prst="rect">
            <a:avLst/>
          </a:prstGeom>
          <a:solidFill>
            <a:srgbClr val="17171a"/>
          </a:solidFill>
          <a:ln w="12700">
            <a:solidFill>
              <a:srgbClr val="3a3a4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s-E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7" name="Google Shape;207;p19"/>
          <p:cNvSpPr/>
          <p:nvPr/>
        </p:nvSpPr>
        <p:spPr>
          <a:xfrm>
            <a:off x="482760" y="2844720"/>
            <a:ext cx="63360" cy="1117080"/>
          </a:xfrm>
          <a:prstGeom prst="rect">
            <a:avLst/>
          </a:prstGeom>
          <a:solidFill>
            <a:srgbClr val="b3122d"/>
          </a:solidFill>
          <a:ln w="12700">
            <a:solidFill>
              <a:srgbClr val="b3122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Google Shape;208;p19"/>
          <p:cNvSpPr/>
          <p:nvPr/>
        </p:nvSpPr>
        <p:spPr>
          <a:xfrm>
            <a:off x="685800" y="2971800"/>
            <a:ext cx="3479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s" sz="1000" spc="-1" strike="noStrike">
                <a:solidFill>
                  <a:srgbClr val="b3122d"/>
                </a:solidFill>
                <a:latin typeface="Arial"/>
                <a:ea typeface="Arial"/>
              </a:rPr>
              <a:t>GUR</a:t>
            </a:r>
            <a:endParaRPr b="0" lang="es-E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9" name="Google Shape;209;p19"/>
          <p:cNvSpPr/>
          <p:nvPr/>
        </p:nvSpPr>
        <p:spPr>
          <a:xfrm>
            <a:off x="685800" y="3263760"/>
            <a:ext cx="3479400" cy="58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" sz="1200" spc="-1" strike="noStrike">
                <a:solidFill>
                  <a:srgbClr val="f2f2f2"/>
                </a:solidFill>
                <a:latin typeface="Arial"/>
                <a:ea typeface="Arial"/>
              </a:rPr>
              <a:t>"La píldora no sabía ni qué era". Quejas de mapeo de controles ("intentaba cogerla a la K").</a:t>
            </a:r>
            <a:endParaRPr b="0" lang="es-E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0" name="Google Shape;210;p19"/>
          <p:cNvSpPr/>
          <p:nvPr/>
        </p:nvSpPr>
        <p:spPr>
          <a:xfrm>
            <a:off x="4826160" y="2844720"/>
            <a:ext cx="3835080" cy="1117080"/>
          </a:xfrm>
          <a:prstGeom prst="rect">
            <a:avLst/>
          </a:prstGeom>
          <a:solidFill>
            <a:srgbClr val="17171a"/>
          </a:solidFill>
          <a:ln w="12700">
            <a:solidFill>
              <a:srgbClr val="3a3a4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s-E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" name="Google Shape;211;p19"/>
          <p:cNvSpPr/>
          <p:nvPr/>
        </p:nvSpPr>
        <p:spPr>
          <a:xfrm>
            <a:off x="4826160" y="2844720"/>
            <a:ext cx="63360" cy="1117080"/>
          </a:xfrm>
          <a:prstGeom prst="rect">
            <a:avLst/>
          </a:prstGeom>
          <a:solidFill>
            <a:srgbClr val="b3122d"/>
          </a:solidFill>
          <a:ln w="12700">
            <a:solidFill>
              <a:srgbClr val="b3122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Google Shape;212;p19"/>
          <p:cNvSpPr/>
          <p:nvPr/>
        </p:nvSpPr>
        <p:spPr>
          <a:xfrm>
            <a:off x="5029200" y="2971800"/>
            <a:ext cx="3479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s" sz="1000" spc="-1" strike="noStrike">
                <a:solidFill>
                  <a:srgbClr val="b3122d"/>
                </a:solidFill>
                <a:latin typeface="Arial"/>
                <a:ea typeface="Arial"/>
              </a:rPr>
              <a:t>Triangulación</a:t>
            </a:r>
            <a:endParaRPr b="0" lang="es-E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3" name="Google Shape;213;p19"/>
          <p:cNvSpPr/>
          <p:nvPr/>
        </p:nvSpPr>
        <p:spPr>
          <a:xfrm>
            <a:off x="5029200" y="3263760"/>
            <a:ext cx="3479400" cy="58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" sz="1200" spc="-1" strike="noStrike">
                <a:solidFill>
                  <a:srgbClr val="f2f2f2"/>
                </a:solidFill>
                <a:latin typeface="Arial"/>
                <a:ea typeface="Arial"/>
              </a:rPr>
              <a:t>Uso táctico real, lastrado por falta de affordance en la píldora y usabilidad de controles.</a:t>
            </a:r>
            <a:endParaRPr b="0" lang="es-ES" sz="1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0b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8;p20"/>
          <p:cNvSpPr/>
          <p:nvPr/>
        </p:nvSpPr>
        <p:spPr>
          <a:xfrm>
            <a:off x="5289120" y="1193760"/>
            <a:ext cx="2831040" cy="2614680"/>
          </a:xfrm>
          <a:prstGeom prst="rect">
            <a:avLst/>
          </a:prstGeom>
          <a:solidFill>
            <a:srgbClr val="101014"/>
          </a:solidFill>
          <a:ln w="25400">
            <a:solidFill>
              <a:srgbClr val="b3122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s-E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5" name="Google Shape;219;p20"/>
          <p:cNvSpPr/>
          <p:nvPr/>
        </p:nvSpPr>
        <p:spPr>
          <a:xfrm>
            <a:off x="431640" y="279360"/>
            <a:ext cx="736560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s" sz="2200" spc="-1" strike="noStrike">
                <a:solidFill>
                  <a:srgbClr val="f2f2f2"/>
                </a:solidFill>
                <a:latin typeface="Arial"/>
                <a:ea typeface="Arial"/>
              </a:rPr>
              <a:t>Análisis Espacial</a:t>
            </a:r>
            <a:endParaRPr b="0" lang="es-E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6" name="Google Shape;220;p20"/>
          <p:cNvSpPr/>
          <p:nvPr/>
        </p:nvSpPr>
        <p:spPr>
          <a:xfrm>
            <a:off x="431640" y="774720"/>
            <a:ext cx="7111800" cy="37800"/>
          </a:xfrm>
          <a:prstGeom prst="rect">
            <a:avLst/>
          </a:prstGeom>
          <a:solidFill>
            <a:srgbClr val="b3122d"/>
          </a:solidFill>
          <a:ln w="12700">
            <a:solidFill>
              <a:srgbClr val="b3122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19080" bIns="1908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Google Shape;221;p20"/>
          <p:cNvSpPr/>
          <p:nvPr/>
        </p:nvSpPr>
        <p:spPr>
          <a:xfrm>
            <a:off x="431640" y="4724280"/>
            <a:ext cx="2285640" cy="20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" sz="800" spc="-1" strike="noStrike">
                <a:solidFill>
                  <a:srgbClr val="b8b8b8"/>
                </a:solidFill>
                <a:latin typeface="Arial"/>
                <a:ea typeface="Arial"/>
              </a:rPr>
              <a:t>HeartBeat · GX</a:t>
            </a:r>
            <a:endParaRPr b="0" lang="es-E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" name="Google Shape;222;p20"/>
          <p:cNvSpPr/>
          <p:nvPr/>
        </p:nvSpPr>
        <p:spPr>
          <a:xfrm>
            <a:off x="8318520" y="4673520"/>
            <a:ext cx="4060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s" sz="1100" spc="-1" strike="noStrike">
                <a:solidFill>
                  <a:srgbClr val="b3122d"/>
                </a:solidFill>
                <a:latin typeface="Arial"/>
                <a:ea typeface="Arial"/>
              </a:rPr>
              <a:t>08</a:t>
            </a:r>
            <a:endParaRPr b="0" lang="es-E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9" name="Google Shape;223;p20"/>
          <p:cNvSpPr/>
          <p:nvPr/>
        </p:nvSpPr>
        <p:spPr>
          <a:xfrm>
            <a:off x="994320" y="1193760"/>
            <a:ext cx="3785760" cy="2603160"/>
          </a:xfrm>
          <a:prstGeom prst="rect">
            <a:avLst/>
          </a:prstGeom>
          <a:solidFill>
            <a:srgbClr val="101014"/>
          </a:solidFill>
          <a:ln w="25400">
            <a:solidFill>
              <a:srgbClr val="b3122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s-E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" name="Google Shape;224;p20"/>
          <p:cNvSpPr/>
          <p:nvPr/>
        </p:nvSpPr>
        <p:spPr>
          <a:xfrm>
            <a:off x="1046520" y="1320840"/>
            <a:ext cx="3606480" cy="2069640"/>
          </a:xfrm>
          <a:prstGeom prst="rect">
            <a:avLst/>
          </a:prstGeom>
          <a:solidFill>
            <a:srgbClr val="18181e"/>
          </a:solidFill>
          <a:ln w="12700">
            <a:solidFill>
              <a:srgbClr val="3a3a4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s-E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1" name="Google Shape;225;p20"/>
          <p:cNvSpPr/>
          <p:nvPr/>
        </p:nvSpPr>
        <p:spPr>
          <a:xfrm>
            <a:off x="1224360" y="2241720"/>
            <a:ext cx="32508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s" sz="1200" spc="-1" strike="noStrike">
                <a:solidFill>
                  <a:srgbClr val="f2f2f2"/>
                </a:solidFill>
                <a:latin typeface="Arial"/>
                <a:ea typeface="Arial"/>
              </a:rPr>
              <a:t>INSERTAR CAPTURA AQUÍ</a:t>
            </a:r>
            <a:endParaRPr b="0" lang="es-E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" name="Google Shape;226;p20"/>
          <p:cNvSpPr/>
          <p:nvPr/>
        </p:nvSpPr>
        <p:spPr>
          <a:xfrm>
            <a:off x="5542560" y="2241720"/>
            <a:ext cx="32508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s" sz="1200" spc="-1" strike="noStrike">
                <a:solidFill>
                  <a:srgbClr val="f2f2f2"/>
                </a:solidFill>
                <a:latin typeface="Arial"/>
                <a:ea typeface="Arial"/>
              </a:rPr>
              <a:t>INSERTAR CAPTURA AQUÍ</a:t>
            </a:r>
            <a:endParaRPr b="0" lang="es-E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3" name="Google Shape;227;p20"/>
          <p:cNvSpPr/>
          <p:nvPr/>
        </p:nvSpPr>
        <p:spPr>
          <a:xfrm>
            <a:off x="482760" y="4055400"/>
            <a:ext cx="8178480" cy="722520"/>
          </a:xfrm>
          <a:prstGeom prst="rect">
            <a:avLst/>
          </a:prstGeom>
          <a:solidFill>
            <a:srgbClr val="17171a"/>
          </a:solidFill>
          <a:ln w="12700">
            <a:solidFill>
              <a:srgbClr val="3a3a4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s-E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4" name="Google Shape;228;p20"/>
          <p:cNvSpPr/>
          <p:nvPr/>
        </p:nvSpPr>
        <p:spPr>
          <a:xfrm>
            <a:off x="482760" y="4055400"/>
            <a:ext cx="63360" cy="722520"/>
          </a:xfrm>
          <a:prstGeom prst="rect">
            <a:avLst/>
          </a:prstGeom>
          <a:solidFill>
            <a:srgbClr val="b3122d"/>
          </a:solidFill>
          <a:ln w="12700">
            <a:solidFill>
              <a:srgbClr val="b3122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Google Shape;229;p20"/>
          <p:cNvSpPr/>
          <p:nvPr/>
        </p:nvSpPr>
        <p:spPr>
          <a:xfrm>
            <a:off x="685800" y="3979080"/>
            <a:ext cx="782280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s" sz="1000" spc="-1" strike="noStrike">
                <a:solidFill>
                  <a:srgbClr val="b3122d"/>
                </a:solidFill>
                <a:latin typeface="Arial"/>
                <a:ea typeface="Arial"/>
              </a:rPr>
              <a:t>Conclusión</a:t>
            </a:r>
            <a:endParaRPr b="0" lang="es-E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6" name="Google Shape;230;p20"/>
          <p:cNvSpPr/>
          <p:nvPr/>
        </p:nvSpPr>
        <p:spPr>
          <a:xfrm>
            <a:off x="685800" y="4167360"/>
            <a:ext cx="7822800" cy="52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" sz="1100" spc="-1" strike="noStrike">
                <a:solidFill>
                  <a:srgbClr val="f2f2f2"/>
                </a:solidFill>
                <a:latin typeface="Arial"/>
                <a:ea typeface="Arial"/>
              </a:rPr>
              <a:t>Las muertes se concentran en pasillos rectos y zonas con muchos enemigos o enemigos avanzados. Los jugadores siguen la ruta prevista y usan los armarios en las zonas complicadas. No usan todos los armarios, algunos donde no hay mucha dificultad se los saltan.</a:t>
            </a:r>
            <a:endParaRPr b="0" lang="es-E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27" name="Google Shape;231;p20" descr=""/>
          <p:cNvPicPr/>
          <p:nvPr/>
        </p:nvPicPr>
        <p:blipFill>
          <a:blip r:embed="rId1"/>
          <a:srcRect l="26970" t="6332" r="25328" b="8136"/>
          <a:stretch/>
        </p:blipFill>
        <p:spPr>
          <a:xfrm>
            <a:off x="994320" y="1233720"/>
            <a:ext cx="1919160" cy="2532600"/>
          </a:xfrm>
          <a:prstGeom prst="rect">
            <a:avLst/>
          </a:prstGeom>
          <a:ln w="0">
            <a:noFill/>
          </a:ln>
        </p:spPr>
      </p:pic>
      <p:pic>
        <p:nvPicPr>
          <p:cNvPr id="228" name="Google Shape;232;p20" descr=""/>
          <p:cNvPicPr/>
          <p:nvPr/>
        </p:nvPicPr>
        <p:blipFill>
          <a:blip r:embed="rId2"/>
          <a:srcRect l="27654" t="6179" r="25851" b="6649"/>
          <a:stretch/>
        </p:blipFill>
        <p:spPr>
          <a:xfrm>
            <a:off x="2903400" y="1229400"/>
            <a:ext cx="1835280" cy="2532600"/>
          </a:xfrm>
          <a:prstGeom prst="rect">
            <a:avLst/>
          </a:prstGeom>
          <a:ln w="0">
            <a:noFill/>
          </a:ln>
        </p:spPr>
      </p:pic>
      <p:pic>
        <p:nvPicPr>
          <p:cNvPr id="229" name="Google Shape;233;p20" descr=""/>
          <p:cNvPicPr/>
          <p:nvPr/>
        </p:nvPicPr>
        <p:blipFill>
          <a:blip r:embed="rId3"/>
          <a:stretch/>
        </p:blipFill>
        <p:spPr>
          <a:xfrm>
            <a:off x="5286240" y="1205280"/>
            <a:ext cx="2831040" cy="2603160"/>
          </a:xfrm>
          <a:prstGeom prst="rect">
            <a:avLst/>
          </a:prstGeom>
          <a:ln w="0">
            <a:noFill/>
          </a:ln>
        </p:spPr>
      </p:pic>
      <p:pic>
        <p:nvPicPr>
          <p:cNvPr id="230" name="Google Shape;234;p20" descr=""/>
          <p:cNvPicPr/>
          <p:nvPr/>
        </p:nvPicPr>
        <p:blipFill>
          <a:blip r:embed="rId4"/>
          <a:srcRect l="13787" t="5402" r="13867" b="6452"/>
          <a:stretch/>
        </p:blipFill>
        <p:spPr>
          <a:xfrm>
            <a:off x="5299200" y="1254600"/>
            <a:ext cx="2810520" cy="2520000"/>
          </a:xfrm>
          <a:prstGeom prst="rect">
            <a:avLst/>
          </a:prstGeom>
          <a:ln w="0">
            <a:noFill/>
          </a:ln>
        </p:spPr>
      </p:pic>
      <p:pic>
        <p:nvPicPr>
          <p:cNvPr id="231" name="Google Shape;235;p20" descr=""/>
          <p:cNvPicPr/>
          <p:nvPr/>
        </p:nvPicPr>
        <p:blipFill>
          <a:blip r:embed="rId5">
            <a:alphaModFix amt="50000"/>
          </a:blip>
          <a:srcRect l="13899" t="5479" r="13553" b="6321"/>
          <a:stretch/>
        </p:blipFill>
        <p:spPr>
          <a:xfrm>
            <a:off x="5289120" y="1234440"/>
            <a:ext cx="2831040" cy="2532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0b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40;p21"/>
          <p:cNvSpPr/>
          <p:nvPr/>
        </p:nvSpPr>
        <p:spPr>
          <a:xfrm>
            <a:off x="431640" y="279360"/>
            <a:ext cx="736560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s" sz="2200" spc="-1" strike="noStrike">
                <a:solidFill>
                  <a:srgbClr val="f2f2f2"/>
                </a:solidFill>
                <a:latin typeface="Arial"/>
                <a:ea typeface="Arial"/>
              </a:rPr>
              <a:t>Más Conclusiones</a:t>
            </a:r>
            <a:endParaRPr b="0" lang="es-E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3" name="Google Shape;241;p21"/>
          <p:cNvSpPr/>
          <p:nvPr/>
        </p:nvSpPr>
        <p:spPr>
          <a:xfrm>
            <a:off x="431640" y="774720"/>
            <a:ext cx="7111800" cy="37800"/>
          </a:xfrm>
          <a:prstGeom prst="rect">
            <a:avLst/>
          </a:prstGeom>
          <a:solidFill>
            <a:srgbClr val="b3122d"/>
          </a:solidFill>
          <a:ln w="12700">
            <a:solidFill>
              <a:srgbClr val="b3122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19080" bIns="1908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Google Shape;242;p21"/>
          <p:cNvSpPr/>
          <p:nvPr/>
        </p:nvSpPr>
        <p:spPr>
          <a:xfrm>
            <a:off x="431640" y="4724280"/>
            <a:ext cx="2285640" cy="20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" sz="800" spc="-1" strike="noStrike">
                <a:solidFill>
                  <a:srgbClr val="b8b8b8"/>
                </a:solidFill>
                <a:latin typeface="Arial"/>
                <a:ea typeface="Arial"/>
              </a:rPr>
              <a:t>HeartBeat · GX</a:t>
            </a:r>
            <a:endParaRPr b="0" lang="es-E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5" name="Google Shape;243;p21"/>
          <p:cNvSpPr/>
          <p:nvPr/>
        </p:nvSpPr>
        <p:spPr>
          <a:xfrm>
            <a:off x="8318520" y="4673520"/>
            <a:ext cx="4060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s" sz="1100" spc="-1" strike="noStrike">
                <a:solidFill>
                  <a:srgbClr val="b3122d"/>
                </a:solidFill>
                <a:latin typeface="Arial"/>
                <a:ea typeface="Arial"/>
              </a:rPr>
              <a:t>09</a:t>
            </a:r>
            <a:endParaRPr b="0" lang="es-E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6" name="Google Shape;245;p21"/>
          <p:cNvSpPr/>
          <p:nvPr/>
        </p:nvSpPr>
        <p:spPr>
          <a:xfrm>
            <a:off x="1041480" y="1498680"/>
            <a:ext cx="2026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s" sz="1400" spc="-1" strike="noStrike">
                <a:solidFill>
                  <a:srgbClr val="b3122d"/>
                </a:solidFill>
                <a:latin typeface="Arial"/>
                <a:ea typeface="Arial"/>
              </a:rPr>
              <a:t>•</a:t>
            </a:r>
            <a:endParaRPr b="0" lang="es-E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7" name="Google Shape;246;p21"/>
          <p:cNvSpPr/>
          <p:nvPr/>
        </p:nvSpPr>
        <p:spPr>
          <a:xfrm>
            <a:off x="1260000" y="1440000"/>
            <a:ext cx="6842160" cy="57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" sz="1200" spc="-1" strike="noStrike">
                <a:solidFill>
                  <a:srgbClr val="f2f2f2"/>
                </a:solidFill>
                <a:latin typeface="Arial"/>
                <a:ea typeface="Arial"/>
              </a:rPr>
              <a:t>La tensión estética funciona, aunque no siempre se traduce en más fallos. El pulso obliga a dividir la atención entre la interfaz y los enemigos, generando presión. Sin embargo, algunos jugadores acaban automatizando el ritmo, por lo que la mecánica no siempre aumenta los errores de forma directa.</a:t>
            </a:r>
            <a:endParaRPr b="0" lang="es-E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8" name="Google Shape;248;p21"/>
          <p:cNvSpPr/>
          <p:nvPr/>
        </p:nvSpPr>
        <p:spPr>
          <a:xfrm>
            <a:off x="1041480" y="2489040"/>
            <a:ext cx="2026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s" sz="1400" spc="-1" strike="noStrike">
                <a:solidFill>
                  <a:srgbClr val="b3122d"/>
                </a:solidFill>
                <a:latin typeface="Arial"/>
                <a:ea typeface="Arial"/>
              </a:rPr>
              <a:t>•</a:t>
            </a:r>
            <a:endParaRPr b="0" lang="es-E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9" name="Google Shape;249;p21"/>
          <p:cNvSpPr/>
          <p:nvPr/>
        </p:nvSpPr>
        <p:spPr>
          <a:xfrm>
            <a:off x="1320840" y="2476440"/>
            <a:ext cx="678132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" sz="1200" spc="-1" strike="noStrike">
                <a:solidFill>
                  <a:srgbClr val="f2f2f2"/>
                </a:solidFill>
                <a:latin typeface="Arial"/>
                <a:ea typeface="Arial"/>
              </a:rPr>
              <a:t>El diseño táctico sí aparece con claridad. Los armarios y objetos funcionan como herramientas de supervivencia: permiten descansar, observar rutas y resolver zonas peligrosas. Esto confirma que el juego no solo castiga, sino que también ofrece recursos para planificar.</a:t>
            </a:r>
            <a:endParaRPr b="0" lang="es-E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0" name="Google Shape;251;p21"/>
          <p:cNvSpPr/>
          <p:nvPr/>
        </p:nvSpPr>
        <p:spPr>
          <a:xfrm>
            <a:off x="1041480" y="3479760"/>
            <a:ext cx="2026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s" sz="1400" spc="-1" strike="noStrike">
                <a:solidFill>
                  <a:srgbClr val="b3122d"/>
                </a:solidFill>
                <a:latin typeface="Arial"/>
                <a:ea typeface="Arial"/>
              </a:rPr>
              <a:t>•</a:t>
            </a:r>
            <a:endParaRPr b="0" lang="es-E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1" name="Google Shape;252;p21"/>
          <p:cNvSpPr/>
          <p:nvPr/>
        </p:nvSpPr>
        <p:spPr>
          <a:xfrm>
            <a:off x="1320840" y="3467160"/>
            <a:ext cx="678132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" sz="1200" spc="-1" strike="noStrike">
                <a:solidFill>
                  <a:srgbClr val="f2f2f2"/>
                </a:solidFill>
                <a:latin typeface="Arial"/>
                <a:ea typeface="Arial"/>
              </a:rPr>
              <a:t>El principal problema detectado es la comunicación. La fatiga, la píldora y algunos controles no se entienden bien al principio. Esto hace que parte de la tensión buscada se convierta en frustración. Mejorar feedback visual, tutorialización e iconos haría que la experiencia fuese más justa.</a:t>
            </a:r>
            <a:endParaRPr b="0" lang="es-ES" sz="1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</TotalTime>
  <Application>LibreOffice/7.5.1.2$Windows_X86_64 LibreOffice_project/fcbaee479e84c6cd81291587d2ee68cba099e129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es-ES</dc:language>
  <cp:lastModifiedBy/>
  <dcterms:modified xsi:type="dcterms:W3CDTF">2026-06-29T17:20:54Z</dcterms:modified>
  <cp:revision>1</cp:revision>
  <dc:subject/>
  <dc:title/>
</cp:coreProperties>
</file>